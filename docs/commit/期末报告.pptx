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3" r:id="rId4"/>
    <p:sldMasterId id="2147483666" r:id="rId5"/>
    <p:sldMasterId id="2147483669" r:id="rId6"/>
  </p:sldMasterIdLst>
  <p:notesMasterIdLst>
    <p:notesMasterId r:id="rId8"/>
  </p:notesMasterIdLst>
  <p:sldIdLst>
    <p:sldId id="268" r:id="rId7"/>
    <p:sldId id="257" r:id="rId9"/>
    <p:sldId id="258" r:id="rId10"/>
    <p:sldId id="278" r:id="rId11"/>
    <p:sldId id="283" r:id="rId12"/>
    <p:sldId id="265" r:id="rId13"/>
    <p:sldId id="266" r:id="rId14"/>
    <p:sldId id="267" r:id="rId15"/>
    <p:sldId id="279" r:id="rId16"/>
    <p:sldId id="260" r:id="rId17"/>
    <p:sldId id="262" r:id="rId18"/>
    <p:sldId id="280" r:id="rId19"/>
    <p:sldId id="281" r:id="rId20"/>
    <p:sldId id="277"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5" userDrawn="1">
          <p15:clr>
            <a:srgbClr val="747775"/>
          </p15:clr>
        </p15:guide>
        <p15:guide id="2" pos="280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151" d="100"/>
          <a:sy n="151" d="100"/>
        </p:scale>
        <p:origin x="632" y="116"/>
      </p:cViewPr>
      <p:guideLst>
        <p:guide orient="horz" pos="1615"/>
        <p:guide pos="28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们会分析当前传统方法在处理多模态文档时面临的主要挑战。接着，我们将概览我们为此设计的五大核心亮点。然后，我们会逐一详细介绍这些亮点，并通过详实的实验数据来验证其有效性。最后，我们将对整个项目进行总结，并展望未来的工作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初期，我们识别出传统文档问答方法普遍存在三大缺陷。首先，它们在处理文档时会丢失重要的结构信息，比如图表和版面布局。其次，许多方法盲目地在检索阶段就融合视觉信息，这在特定场景下反而会产生干扰。最关键的是，我们发现常用的评测基准本身存在偏差，导致我们无法准确评估系统的真实能力。这些问题共同构成了我们研究的出发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初期，我们识别出传统文档问答方法普遍存在三大缺陷。首先，它们在处理文档时会丢失重要的结构信息，比如图表和版面布局。其次，许多方法盲目地在检索阶段就融合视觉信息，这在特定场景下反而会产生干扰。最关键的是，我们发现常用的评测基准本身存在偏差，导致我们无法准确评估系统的真实能力。这些问题共同构成了我们研究的出发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初期，我们识别出传统文档问答方法普遍存在三大缺陷。首先，它们在处理文档时会丢失重要的结构信息，比如图表和版面布局。其次，许多方法盲目地在检索阶段就融合视觉信息，这在特定场景下反而会产生干扰。最关键的是，我们发现常用的评测基准本身存在偏差，导致我们无法准确评估系统的真实能力。这些问题共同构成了我们研究的出发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综合以上所有优化，我们当前最佳的系统版本在修复后的评测基准上取得了非常出色的表现。我们的Hit@5达到了0.95，意味着几乎总能找到正确的页面。更重要的是，Citation@1达到了0.90，说明我们返回的第一条证据绝大多数时候都是准确的。在回答质量方面，EM分数达到了0.87，ANLS和Token-F1也都在0.95以上。这表明我们的系统不仅能找到证据，还能基于证据生成高质量、可信赖的答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消融实验结论是：索引的切分粒度并不是当前系统的性能瓶颈。大家可以看到，无论是使用页级文本索引、块级文本索引，还是更复杂的块级多模态索引，我们的核心检索指标Hit@5和Citation@1都完全一样，稳定在0.95和0.91。这说明，至少在我们当前的数据集上，把索引做得更细或者更复杂，并不能带来性能提升。真正的关键在于如何对检索到的内容进行排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结论有些令人意外：我们当前设计的“门控策略”实际上是一个负优化。数据显示，当我们完全不使用视觉辅助时，EM分数只有0.13。而当我们始终启用视觉辅助时，EM分数飙升到了0.82。然而，我们设计的智能门控策略，仅仅将分数提升到了0.20，远未达到视觉辅助应有的效果。这说明，我们的门控逻辑过于保守，限制了系统性能，这是我们未来需要重点优化的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最后一个结论揭示了问题的本质：系统的瓶颈不在于模型的视觉能力，而在于视觉能力的“触发机制”。我们做了一个对比实验：在我们正常的检索-生成流程中（Corpus-grounded RAG），即使启用了视觉辅助，EM分数也只有0.20。但是，如果我们让模型直接看到问题对应的图片（Query-image assisted QA），EM分数能达到0.93。这巨大的差距清晰地表明，模型本身看得懂图，问题在于我们还没有找到一种可靠的方法，让它在需要看图的时候自动去看。这正是我们所说的“触发机制”瓶颈。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亮点是“块优先解耦”。我们不再将文档视为一个整体，而是将其解析为一个个独立的语义块，比如标题、段落和表格。这些块成为了我们系统中统一的证据载体。通过这种方式，我们不仅保留了文档的原始结构信息，更重要的是，任何生成的答案都可以被精确地追溯到原始页面的具体位置，这为系统的可解释性和可验证性奠定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介绍我们系统的第三个核心亮点：确立了“稳健的文本优先检索”作为主线。我们通过两个关键步骤实现这一目标：首先是轻量初筛，快速锁定候选集；其次是精细重排，提纯关键证据。左侧的图表直观展示了效果差异，文本优先主线的Citation@1指标高达0.91，显著优于视觉稠密融合的0.79。右侧的关键发现进一步指出，视觉介入存在“时机陷阱”，过早融合反而会引入噪声。这证明在课程文档场景下，文本优先是更可靠、更高效的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消融实验结论是：索引的切分粒度并不是当前系统的性能瓶颈。大家可以看到，无论是使用页级文本索引、块级文本索引，还是更复杂的块级多模态索引，我们的核心检索指标Hit@5和Citation@1都完全一样，稳定在0.95和0.91。这说明，至少在我们当前的数据集上，把索引做得更细或者更复杂，并不能带来性能提升。真正的关键在于如何对检索到的内容进行排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消融实验结论是：索引的切分粒度并不是当前系统的性能瓶颈。大家可以看到，无论是使用页级文本索引、块级文本索引，还是更复杂的块级多模态索引，我们的核心检索指标Hit@5和Citation@1都完全一样，稳定在0.95和0.91。这说明，至少在我们当前的数据集上，把索引做得更细或者更复杂，并不能带来性能提升。真正的关键在于如何对检索到的内容进行排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C17F9E5-2C3F-427E-9E18-8DB1205C1B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C17F9E5-2C3F-427E-9E18-8DB1205C1B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C17F9E5-2C3F-427E-9E18-8DB1205C1B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C17F9E5-2C3F-427E-9E18-8DB1205C1B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 id="214748366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 id="214748366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3" Type="http://schemas.openxmlformats.org/officeDocument/2006/relationships/notesSlide" Target="../notesSlides/notesSlide3.xml"/><Relationship Id="rId12" Type="http://schemas.openxmlformats.org/officeDocument/2006/relationships/slideLayout" Target="../slideLayouts/slideLayout12.xml"/><Relationship Id="rId11" Type="http://schemas.openxmlformats.org/officeDocument/2006/relationships/image" Target="../media/image5.png"/><Relationship Id="rId10" Type="http://schemas.openxmlformats.org/officeDocument/2006/relationships/tags" Target="../tags/tag9.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8.xml"/><Relationship Id="rId2" Type="http://schemas.openxmlformats.org/officeDocument/2006/relationships/image" Target="../media/image7.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3" Type="http://schemas.openxmlformats.org/officeDocument/2006/relationships/notesSlide" Target="../notesSlides/notesSlide6.xml"/><Relationship Id="rId22" Type="http://schemas.openxmlformats.org/officeDocument/2006/relationships/slideLayout" Target="../slideLayouts/slideLayout12.xml"/><Relationship Id="rId21" Type="http://schemas.openxmlformats.org/officeDocument/2006/relationships/image" Target="../media/image5.png"/><Relationship Id="rId20" Type="http://schemas.openxmlformats.org/officeDocument/2006/relationships/tags" Target="../tags/tag31.xml"/><Relationship Id="rId2" Type="http://schemas.openxmlformats.org/officeDocument/2006/relationships/tags" Target="../tags/tag13.xml"/><Relationship Id="rId19" Type="http://schemas.openxmlformats.org/officeDocument/2006/relationships/tags" Target="../tags/tag30.xml"/><Relationship Id="rId18" Type="http://schemas.openxmlformats.org/officeDocument/2006/relationships/tags" Target="../tags/tag29.xml"/><Relationship Id="rId17" Type="http://schemas.openxmlformats.org/officeDocument/2006/relationships/tags" Target="../tags/tag28.xml"/><Relationship Id="rId16" Type="http://schemas.openxmlformats.org/officeDocument/2006/relationships/tags" Target="../tags/tag27.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9.sv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9.sv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9.svg"/><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2" Type="http://schemas.openxmlformats.org/officeDocument/2006/relationships/notesSlide" Target="../notesSlides/notesSlide11.xml"/><Relationship Id="rId11" Type="http://schemas.openxmlformats.org/officeDocument/2006/relationships/slideLayout" Target="../slideLayouts/slideLayout12.xml"/><Relationship Id="rId10" Type="http://schemas.openxmlformats.org/officeDocument/2006/relationships/image" Target="../media/image5.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6.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3.xml"/><Relationship Id="rId2" Type="http://schemas.microsoft.com/office/2007/relationships/hdphoto" Target="../media/image3.wdp"/><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t="20323" r="14726" b="48018"/>
          <a:stretch>
            <a:fillRect/>
          </a:stretch>
        </p:blipFill>
        <p:spPr>
          <a:xfrm>
            <a:off x="15050" y="5223309"/>
            <a:ext cx="5870824" cy="1634689"/>
          </a:xfrm>
          <a:prstGeom prst="rect">
            <a:avLst/>
          </a:prstGeom>
        </p:spPr>
      </p:pic>
      <p:grpSp>
        <p:nvGrpSpPr>
          <p:cNvPr id="2" name="组合 1"/>
          <p:cNvGrpSpPr/>
          <p:nvPr/>
        </p:nvGrpSpPr>
        <p:grpSpPr>
          <a:xfrm>
            <a:off x="4705866" y="0"/>
            <a:ext cx="2780268" cy="3063728"/>
            <a:chOff x="4705866" y="0"/>
            <a:chExt cx="2780268" cy="3063728"/>
          </a:xfrm>
        </p:grpSpPr>
        <p:sp>
          <p:nvSpPr>
            <p:cNvPr id="28" name="任意多边形 27"/>
            <p:cNvSpPr/>
            <p:nvPr/>
          </p:nvSpPr>
          <p:spPr>
            <a:xfrm>
              <a:off x="4705866" y="0"/>
              <a:ext cx="2780268" cy="3063728"/>
            </a:xfrm>
            <a:custGeom>
              <a:avLst/>
              <a:gdLst>
                <a:gd name="connsiteX0" fmla="*/ 0 w 2780268"/>
                <a:gd name="connsiteY0" fmla="*/ 0 h 3063728"/>
                <a:gd name="connsiteX1" fmla="*/ 2780268 w 2780268"/>
                <a:gd name="connsiteY1" fmla="*/ 0 h 3063728"/>
                <a:gd name="connsiteX2" fmla="*/ 2780268 w 2780268"/>
                <a:gd name="connsiteY2" fmla="*/ 1673594 h 3063728"/>
                <a:gd name="connsiteX3" fmla="*/ 1390134 w 2780268"/>
                <a:gd name="connsiteY3" fmla="*/ 3063728 h 3063728"/>
                <a:gd name="connsiteX4" fmla="*/ 0 w 2780268"/>
                <a:gd name="connsiteY4" fmla="*/ 1673594 h 3063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268" h="3063728">
                  <a:moveTo>
                    <a:pt x="0" y="0"/>
                  </a:moveTo>
                  <a:lnTo>
                    <a:pt x="2780268" y="0"/>
                  </a:lnTo>
                  <a:lnTo>
                    <a:pt x="2780268" y="1673594"/>
                  </a:lnTo>
                  <a:cubicBezTo>
                    <a:pt x="2780268" y="2441344"/>
                    <a:pt x="2157884" y="3063728"/>
                    <a:pt x="1390134" y="3063728"/>
                  </a:cubicBezTo>
                  <a:cubicBezTo>
                    <a:pt x="622384" y="3063728"/>
                    <a:pt x="0" y="2441344"/>
                    <a:pt x="0" y="1673594"/>
                  </a:cubicBezTo>
                  <a:close/>
                </a:path>
              </a:pathLst>
            </a:cu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875891" y="408799"/>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4" name="矩形 13"/>
          <p:cNvSpPr/>
          <p:nvPr/>
        </p:nvSpPr>
        <p:spPr>
          <a:xfrm>
            <a:off x="0" y="5223310"/>
            <a:ext cx="12192000" cy="1634689"/>
          </a:xfrm>
          <a:prstGeom prst="rect">
            <a:avLst/>
          </a:prstGeom>
          <a:gradFill flip="none" rotWithShape="1">
            <a:gsLst>
              <a:gs pos="0">
                <a:srgbClr val="014924"/>
              </a:gs>
              <a:gs pos="51000">
                <a:srgbClr val="014924"/>
              </a:gs>
              <a:gs pos="80000">
                <a:srgbClr val="014924">
                  <a:alpha val="80000"/>
                </a:srgbClr>
              </a:gs>
              <a:gs pos="100000">
                <a:srgbClr val="014924">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5053673"/>
            <a:ext cx="12192000" cy="7710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286495" y="3295851"/>
            <a:ext cx="9593280" cy="783590"/>
          </a:xfrm>
          <a:prstGeom prst="rect">
            <a:avLst/>
          </a:prstGeom>
          <a:noFill/>
        </p:spPr>
        <p:txBody>
          <a:bodyPr wrap="square" rtlCol="0">
            <a:spAutoFit/>
          </a:bodyPr>
          <a:lstStyle/>
          <a:p>
            <a:pPr algn="ctr">
              <a:lnSpc>
                <a:spcPct val="125000"/>
              </a:lnSpc>
              <a:defRPr/>
            </a:pPr>
            <a:r>
              <a:rPr lang="en-US" altLang="zh-CN" sz="3600" b="1"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多模态文档理解与检索问答系统</a:t>
            </a:r>
            <a:r>
              <a:rPr lang="zh-CN" altLang="en-US" sz="3600" b="1"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结题汇报</a:t>
            </a:r>
            <a:endParaRPr lang="zh-CN" altLang="en-US" sz="3600" b="1"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图片 5"/>
          <p:cNvPicPr>
            <a:picLocks noChangeAspect="1"/>
          </p:cNvPicPr>
          <p:nvPr/>
        </p:nvPicPr>
        <p:blipFill>
          <a:blip r:embed="rId2" cstate="print">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14939" y="650634"/>
            <a:ext cx="1936392" cy="1930811"/>
          </a:xfrm>
          <a:prstGeom prst="rect">
            <a:avLst/>
          </a:prstGeom>
        </p:spPr>
      </p:pic>
      <p:sp>
        <p:nvSpPr>
          <p:cNvPr id="4" name="文本框 3"/>
          <p:cNvSpPr txBox="1"/>
          <p:nvPr/>
        </p:nvSpPr>
        <p:spPr>
          <a:xfrm>
            <a:off x="7051040" y="5441315"/>
            <a:ext cx="4840605" cy="1198880"/>
          </a:xfrm>
          <a:prstGeom prst="rect">
            <a:avLst/>
          </a:prstGeom>
          <a:noFill/>
        </p:spPr>
        <p:txBody>
          <a:bodyPr wrap="square" rtlCol="0">
            <a:spAutoFit/>
          </a:bodyPr>
          <a:lstStyle/>
          <a:p>
            <a:pPr indent="0" algn="l" eaLnBrk="1" fontAlgn="auto" latinLnBrk="0" hangingPunct="1">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汇报人：陈宝怡</a:t>
            </a:r>
            <a:endParaRPr lang="zh-CN" altLang="en-US" sz="2400" b="1" dirty="0">
              <a:solidFill>
                <a:schemeClr val="bg1"/>
              </a:solidFill>
              <a:latin typeface="微软雅黑" panose="020B0503020204020204" pitchFamily="34" charset="-122"/>
              <a:ea typeface="微软雅黑" panose="020B0503020204020204" pitchFamily="34" charset="-122"/>
            </a:endParaRPr>
          </a:p>
          <a:p>
            <a:pPr indent="0" algn="l" eaLnBrk="1" fontAlgn="auto" latinLnBrk="0" hangingPunct="1">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小组成员：陈宝怡</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孙韵淇</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吴承徽</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4" name="AutoShape 4"/>
          <p:cNvSpPr/>
          <p:nvPr/>
        </p:nvSpPr>
        <p:spPr>
          <a:xfrm>
            <a:off x="762000" y="1651000"/>
            <a:ext cx="5080000" cy="2286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15999" y="1905000"/>
            <a:ext cx="3035883"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altLang="zh-CN"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zh-CN" alt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问题与挑战</a:t>
            </a:r>
            <a:endParaRPr lang="en-US" altLang="zh-CN" sz="800" dirty="0"/>
          </a:p>
          <a:p>
            <a:pPr marL="0" indent="0" algn="l">
              <a:lnSpc>
                <a:spcPct val="125000"/>
              </a:lnSpc>
              <a:defRPr/>
            </a:pPr>
            <a:endParaRPr lang="en-US" sz="1100" dirty="0"/>
          </a:p>
        </p:txBody>
      </p:sp>
      <p:sp>
        <p:nvSpPr>
          <p:cNvPr id="7" name="AutoShape 7"/>
          <p:cNvSpPr/>
          <p:nvPr/>
        </p:nvSpPr>
        <p:spPr>
          <a:xfrm>
            <a:off x="1016000" y="2495725"/>
            <a:ext cx="4572000" cy="125077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剖析传统多模态文档处理方法的局限性，梳理当前领域面临的核心技术难点与研究背景</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dirty="0"/>
          </a:p>
        </p:txBody>
      </p:sp>
      <p:sp>
        <p:nvSpPr>
          <p:cNvPr id="8" name="AutoShape 8"/>
          <p:cNvSpPr/>
          <p:nvPr/>
        </p:nvSpPr>
        <p:spPr>
          <a:xfrm>
            <a:off x="6350000" y="1651000"/>
            <a:ext cx="5080000" cy="2286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6603999" y="1905000"/>
            <a:ext cx="3378899"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3200" b="1"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3200" b="1"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项目架构</a:t>
            </a:r>
            <a:endParaRPr lang="en-US" altLang="zh-CN" sz="800" dirty="0"/>
          </a:p>
          <a:p>
            <a:pPr>
              <a:lnSpc>
                <a:spcPct val="125000"/>
              </a:lnSpc>
              <a:defRPr/>
            </a:pPr>
            <a:endParaRPr lang="en-US" altLang="zh-CN" sz="1100" dirty="0"/>
          </a:p>
        </p:txBody>
      </p:sp>
      <p:sp>
        <p:nvSpPr>
          <p:cNvPr id="10" name="AutoShape 10"/>
          <p:cNvSpPr/>
          <p:nvPr/>
        </p:nvSpPr>
        <p:spPr>
          <a:xfrm>
            <a:off x="6604000" y="26035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sp>
        <p:nvSpPr>
          <p:cNvPr id="11" name="AutoShape 11"/>
          <p:cNvSpPr/>
          <p:nvPr/>
        </p:nvSpPr>
        <p:spPr>
          <a:xfrm>
            <a:off x="6604000" y="2432807"/>
            <a:ext cx="4572000" cy="1313693"/>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从架构设计出发，概览针对上述挑战提出的五大核心创新点，展示方案的整体技术优势</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dirty="0"/>
          </a:p>
        </p:txBody>
      </p:sp>
      <p:sp>
        <p:nvSpPr>
          <p:cNvPr id="12" name="AutoShape 12"/>
          <p:cNvSpPr/>
          <p:nvPr/>
        </p:nvSpPr>
        <p:spPr>
          <a:xfrm>
            <a:off x="762000" y="4191000"/>
            <a:ext cx="5080000" cy="2286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1016000" y="4445000"/>
            <a:ext cx="4365538"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亮点与实验验证</a:t>
            </a:r>
            <a:endParaRPr lang="en-US" sz="1100" dirty="0"/>
          </a:p>
        </p:txBody>
      </p:sp>
      <p:sp>
        <p:nvSpPr>
          <p:cNvPr id="15" name="AutoShape 15"/>
          <p:cNvSpPr/>
          <p:nvPr/>
        </p:nvSpPr>
        <p:spPr>
          <a:xfrm>
            <a:off x="1015999" y="5420803"/>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深入解析关键技术细节，结合多组对比实验数据，从定量与定性维度充分验证方案的有效性</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dirty="0"/>
          </a:p>
        </p:txBody>
      </p:sp>
      <p:sp>
        <p:nvSpPr>
          <p:cNvPr id="16" name="AutoShape 16"/>
          <p:cNvSpPr/>
          <p:nvPr/>
        </p:nvSpPr>
        <p:spPr>
          <a:xfrm>
            <a:off x="6350000" y="4191000"/>
            <a:ext cx="5080000" cy="2286000"/>
          </a:xfrm>
          <a:prstGeom prst="roundRect">
            <a:avLst>
              <a:gd name="adj" fmla="val 0"/>
            </a:avLst>
          </a:prstGeom>
          <a:solidFill>
            <a:srgbClr val="F8F9FA">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6603999" y="4445000"/>
            <a:ext cx="3731237"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zh-CN" alt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结论与展望</a:t>
            </a:r>
            <a:endParaRPr lang="en-US" sz="1100" dirty="0"/>
          </a:p>
        </p:txBody>
      </p:sp>
      <p:sp>
        <p:nvSpPr>
          <p:cNvPr id="19" name="AutoShape 19"/>
          <p:cNvSpPr/>
          <p:nvPr/>
        </p:nvSpPr>
        <p:spPr>
          <a:xfrm>
            <a:off x="6603999" y="5420803"/>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总结项目的核心研究发现，归纳成果价值，并探讨当前方案的不足与未来的优化及拓展方向</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dirty="0"/>
          </a:p>
        </p:txBody>
      </p:sp>
      <p:pic>
        <p:nvPicPr>
          <p:cNvPr id="21" name="图片 20"/>
          <p:cNvPicPr>
            <a:picLocks noChangeAspect="1"/>
          </p:cNvPicPr>
          <p:nvPr/>
        </p:nvPicPr>
        <p:blipFill rotWithShape="1">
          <a:blip r:embed="rId2"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3200" b="1" i="0" u="none" strike="noStrike"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问题与挑战：传统方法的三大缺陷</a:t>
            </a:r>
            <a:endParaRPr lang="en-US" sz="1100" dirty="0"/>
          </a:p>
        </p:txBody>
      </p:sp>
      <p:sp>
        <p:nvSpPr>
          <p:cNvPr id="4" name="AutoShape 4"/>
          <p:cNvSpPr/>
          <p:nvPr>
            <p:custDataLst>
              <p:tags r:id="rId2"/>
            </p:custDataLst>
          </p:nvPr>
        </p:nvSpPr>
        <p:spPr>
          <a:xfrm>
            <a:off x="762000" y="2032000"/>
            <a:ext cx="3302000" cy="4318000"/>
          </a:xfrm>
          <a:prstGeom prst="roundRect">
            <a:avLst>
              <a:gd name="adj" fmla="val 3846"/>
            </a:avLst>
          </a:prstGeom>
          <a:solidFill>
            <a:srgbClr val="F8F9FA">
              <a:alpha val="100000"/>
            </a:srgbClr>
          </a:solidFill>
          <a:ln w="25400" cap="flat" cmpd="sng">
            <a:noFill/>
            <a:prstDash val="solid"/>
            <a:round/>
          </a:ln>
          <a:effectLst>
            <a:outerShdw blurRad="190500" dist="63500" dir="5400000" algn="tl" rotWithShape="0">
              <a:srgbClr val="000000">
                <a:alpha val="8000"/>
              </a:srgbClr>
            </a:outerShdw>
          </a:effectLst>
        </p:spPr>
        <p:txBody>
          <a:bodyPr vert="horz" wrap="square" lIns="0" tIns="0" rIns="0" bIns="0" rtlCol="0" anchor="ctr" anchorCtr="0"/>
          <a:lstStyle/>
          <a:p>
            <a:pPr algn="ctr">
              <a:defRPr/>
            </a:pPr>
          </a:p>
        </p:txBody>
      </p:sp>
      <p:sp>
        <p:nvSpPr>
          <p:cNvPr id="5" name="AutoShape 5"/>
          <p:cNvSpPr/>
          <p:nvPr>
            <p:custDataLst>
              <p:tags r:id="rId3"/>
            </p:custDataLst>
          </p:nvPr>
        </p:nvSpPr>
        <p:spPr>
          <a:xfrm>
            <a:off x="1016000" y="2413000"/>
            <a:ext cx="2794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文档结构丢失</a:t>
            </a:r>
            <a:endParaRPr lang="en-US" sz="2800" dirty="0"/>
          </a:p>
        </p:txBody>
      </p:sp>
      <p:sp>
        <p:nvSpPr>
          <p:cNvPr id="6" name="AutoShape 6"/>
          <p:cNvSpPr/>
          <p:nvPr>
            <p:custDataLst>
              <p:tags r:id="rId4"/>
            </p:custDataLst>
          </p:nvPr>
        </p:nvSpPr>
        <p:spPr>
          <a:xfrm>
            <a:off x="1016000" y="3302000"/>
            <a:ext cx="2794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纯文本抽取会丢弃图表、层级标题与版面布局等关键非线性语义信号，造成文档信息的结构性坍缩，大幅降低检索与问答的准确性</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dirty="0"/>
          </a:p>
        </p:txBody>
      </p:sp>
      <p:sp>
        <p:nvSpPr>
          <p:cNvPr id="7" name="AutoShape 7"/>
          <p:cNvSpPr/>
          <p:nvPr>
            <p:custDataLst>
              <p:tags r:id="rId5"/>
            </p:custDataLst>
          </p:nvPr>
        </p:nvSpPr>
        <p:spPr>
          <a:xfrm>
            <a:off x="4445000" y="2032000"/>
            <a:ext cx="3302000" cy="4318000"/>
          </a:xfrm>
          <a:prstGeom prst="roundRect">
            <a:avLst>
              <a:gd name="adj" fmla="val 3846"/>
            </a:avLst>
          </a:prstGeom>
          <a:solidFill>
            <a:srgbClr val="F8F9FA">
              <a:alpha val="100000"/>
            </a:srgbClr>
          </a:solidFill>
          <a:ln w="25400" cap="flat" cmpd="sng">
            <a:noFill/>
            <a:prstDash val="solid"/>
            <a:round/>
          </a:ln>
          <a:effectLst>
            <a:outerShdw blurRad="190500" dist="63500" dir="5400000" algn="tl" rotWithShape="0">
              <a:srgbClr val="000000">
                <a:alpha val="8000"/>
              </a:srgbClr>
            </a:outerShdw>
          </a:effectLst>
        </p:spPr>
        <p:txBody>
          <a:bodyPr vert="horz" wrap="square" lIns="0" tIns="0" rIns="0" bIns="0" rtlCol="0" anchor="ctr" anchorCtr="0"/>
          <a:lstStyle/>
          <a:p>
            <a:pPr algn="ctr">
              <a:defRPr/>
            </a:pPr>
          </a:p>
        </p:txBody>
      </p:sp>
      <p:sp>
        <p:nvSpPr>
          <p:cNvPr id="8" name="AutoShape 8"/>
          <p:cNvSpPr/>
          <p:nvPr>
            <p:custDataLst>
              <p:tags r:id="rId6"/>
            </p:custDataLst>
          </p:nvPr>
        </p:nvSpPr>
        <p:spPr>
          <a:xfrm>
            <a:off x="4445000" y="2413000"/>
            <a:ext cx="330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盲目迷信</a:t>
            </a:r>
            <a:endPar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defRPr/>
            </a:pP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多模态信息</a:t>
            </a:r>
            <a:endParaRPr lang="en-US" sz="1100" dirty="0"/>
          </a:p>
        </p:txBody>
      </p:sp>
      <p:sp>
        <p:nvSpPr>
          <p:cNvPr id="9" name="AutoShape 9"/>
          <p:cNvSpPr/>
          <p:nvPr>
            <p:custDataLst>
              <p:tags r:id="rId7"/>
            </p:custDataLst>
          </p:nvPr>
        </p:nvSpPr>
        <p:spPr>
          <a:xfrm>
            <a:off x="4699000" y="3082290"/>
            <a:ext cx="2794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在检索阶段过早、过强地融合视觉特征，忽视文本内容是文档理解的核心，易被视觉相似性误导，导致无关页面错误前置</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dirty="0"/>
          </a:p>
        </p:txBody>
      </p:sp>
      <p:sp>
        <p:nvSpPr>
          <p:cNvPr id="10" name="AutoShape 10"/>
          <p:cNvSpPr/>
          <p:nvPr>
            <p:custDataLst>
              <p:tags r:id="rId8"/>
            </p:custDataLst>
          </p:nvPr>
        </p:nvSpPr>
        <p:spPr>
          <a:xfrm>
            <a:off x="8128000" y="2032000"/>
            <a:ext cx="3302000" cy="4318000"/>
          </a:xfrm>
          <a:prstGeom prst="roundRect">
            <a:avLst>
              <a:gd name="adj" fmla="val 3846"/>
            </a:avLst>
          </a:prstGeom>
          <a:solidFill>
            <a:srgbClr val="F8F9FA">
              <a:alpha val="100000"/>
            </a:srgbClr>
          </a:solidFill>
          <a:ln w="25400" cap="flat" cmpd="sng">
            <a:noFill/>
            <a:prstDash val="solid"/>
            <a:round/>
          </a:ln>
          <a:effectLst>
            <a:outerShdw blurRad="190500" dist="63500" dir="5400000" algn="tl" rotWithShape="0">
              <a:srgbClr val="000000">
                <a:alpha val="8000"/>
              </a:srgbClr>
            </a:outerShdw>
          </a:effectLst>
        </p:spPr>
        <p:txBody>
          <a:bodyPr vert="horz" wrap="square" lIns="0" tIns="0" rIns="0" bIns="0" rtlCol="0" anchor="ctr" anchorCtr="0"/>
          <a:lstStyle/>
          <a:p>
            <a:pPr algn="ctr">
              <a:defRPr/>
            </a:pPr>
          </a:p>
        </p:txBody>
      </p:sp>
      <p:sp>
        <p:nvSpPr>
          <p:cNvPr id="11" name="AutoShape 11"/>
          <p:cNvSpPr/>
          <p:nvPr>
            <p:custDataLst>
              <p:tags r:id="rId9"/>
            </p:custDataLst>
          </p:nvPr>
        </p:nvSpPr>
        <p:spPr>
          <a:xfrm>
            <a:off x="8260715" y="2314575"/>
            <a:ext cx="3079115" cy="78041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800" b="1" dirty="0">
                <a:latin typeface="Noto Sans SC" panose="020B0200000000000000" charset="-122"/>
                <a:ea typeface="Noto Sans SC" panose="020B0200000000000000" charset="-122"/>
              </a:rPr>
              <a:t>证据定位与</a:t>
            </a:r>
            <a:endParaRPr lang="zh-CN" altLang="en-US" sz="2800" b="1" dirty="0">
              <a:latin typeface="Noto Sans SC" panose="020B0200000000000000" charset="-122"/>
              <a:ea typeface="Noto Sans SC" panose="020B0200000000000000" charset="-122"/>
            </a:endParaRPr>
          </a:p>
          <a:p>
            <a:pPr marL="0" indent="0" algn="ctr">
              <a:lnSpc>
                <a:spcPct val="125000"/>
              </a:lnSpc>
              <a:defRPr/>
            </a:pPr>
            <a:r>
              <a:rPr lang="zh-CN" altLang="en-US" sz="2800" b="1" dirty="0">
                <a:latin typeface="Noto Sans SC" panose="020B0200000000000000" charset="-122"/>
                <a:ea typeface="Noto Sans SC" panose="020B0200000000000000" charset="-122"/>
              </a:rPr>
              <a:t>引用能力弱</a:t>
            </a:r>
            <a:endParaRPr lang="zh-CN" altLang="en-US" sz="2800" b="1" dirty="0">
              <a:latin typeface="Noto Sans SC" panose="020B0200000000000000" charset="-122"/>
              <a:ea typeface="Noto Sans SC" panose="020B0200000000000000" charset="-122"/>
            </a:endParaRPr>
          </a:p>
        </p:txBody>
      </p:sp>
      <p:sp>
        <p:nvSpPr>
          <p:cNvPr id="12" name="AutoShape 12"/>
          <p:cNvSpPr/>
          <p:nvPr>
            <p:custDataLst>
              <p:tags r:id="rId10"/>
            </p:custDataLst>
          </p:nvPr>
        </p:nvSpPr>
        <p:spPr>
          <a:xfrm>
            <a:off x="8382000" y="3082290"/>
            <a:ext cx="2794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dirty="0">
                <a:latin typeface="Noto Sans SC" panose="020B0200000000000000" charset="-122"/>
                <a:ea typeface="Noto Sans SC" panose="020B0200000000000000" charset="-122"/>
              </a:rPr>
              <a:t>传统问答系统往往只关注是否答对，而缺少对证据页、证据块和引用链路的显式建模，导致回答难以验证、结果缺乏可解释性。</a:t>
            </a:r>
            <a:endParaRPr lang="zh-CN" altLang="en-US" sz="2000" dirty="0">
              <a:latin typeface="Noto Sans SC" panose="020B0200000000000000" charset="-122"/>
              <a:ea typeface="Noto Sans SC" panose="020B0200000000000000" charset="-122"/>
            </a:endParaRPr>
          </a:p>
        </p:txBody>
      </p:sp>
      <p:pic>
        <p:nvPicPr>
          <p:cNvPr id="14" name="图片 13"/>
          <p:cNvPicPr>
            <a:picLocks noChangeAspect="1"/>
          </p:cNvPicPr>
          <p:nvPr/>
        </p:nvPicPr>
        <p:blipFill rotWithShape="1">
          <a:blip r:embed="rId11"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98500" y="43688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altLang="zh-CN"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zh-CN" altLang="en-US" sz="3200" b="1"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 项目架构</a:t>
            </a:r>
            <a:endParaRPr lang="en-US" sz="1100" dirty="0"/>
          </a:p>
        </p:txBody>
      </p:sp>
      <p:pic>
        <p:nvPicPr>
          <p:cNvPr id="14" name="图片 13"/>
          <p:cNvPicPr>
            <a:picLocks noChangeAspect="1"/>
          </p:cNvPicPr>
          <p:nvPr/>
        </p:nvPicPr>
        <p:blipFill rotWithShape="1">
          <a:blip r:embed="rId1"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pic>
        <p:nvPicPr>
          <p:cNvPr id="2" name="图片 1" descr="flowchart"/>
          <p:cNvPicPr>
            <a:picLocks noChangeAspect="1"/>
          </p:cNvPicPr>
          <p:nvPr/>
        </p:nvPicPr>
        <p:blipFill>
          <a:blip r:embed="rId2"/>
          <a:stretch>
            <a:fillRect/>
          </a:stretch>
        </p:blipFill>
        <p:spPr>
          <a:xfrm>
            <a:off x="415290" y="2103120"/>
            <a:ext cx="7089140" cy="3990340"/>
          </a:xfrm>
          <a:prstGeom prst="rect">
            <a:avLst/>
          </a:prstGeom>
        </p:spPr>
      </p:pic>
      <p:sp>
        <p:nvSpPr>
          <p:cNvPr id="26" name="AutoShape 26"/>
          <p:cNvSpPr/>
          <p:nvPr/>
        </p:nvSpPr>
        <p:spPr>
          <a:xfrm>
            <a:off x="508000" y="1233170"/>
            <a:ext cx="11400155" cy="635000"/>
          </a:xfrm>
          <a:prstGeom prst="roundRect">
            <a:avLst>
              <a:gd name="adj" fmla="val 0"/>
            </a:avLst>
          </a:prstGeom>
          <a:solidFill>
            <a:srgbClr val="00582F">
              <a:alpha val="8000"/>
            </a:srgbClr>
          </a:solidFill>
          <a:ln w="25400" cap="flat" cmpd="sng">
            <a:noFill/>
            <a:prstDash val="solid"/>
            <a:round/>
          </a:ln>
        </p:spPr>
        <p:txBody>
          <a:bodyPr vert="horz" wrap="square" lIns="63500" tIns="63500" rIns="63500" bIns="63500" rtlCol="0" anchor="ctr"/>
          <a:lstStyle/>
          <a:p>
            <a:pPr algn="ctr">
              <a:defRPr/>
            </a:pPr>
            <a:r>
              <a:rPr lang="zh-CN" altLang="en-US" sz="2000">
                <a:latin typeface="Noto Sans SC" panose="020B0200000000000000" charset="-122"/>
                <a:ea typeface="Noto Sans SC" panose="020B0200000000000000" charset="-122"/>
                <a:cs typeface="Noto Sans SC" panose="020B0200000000000000" charset="-122"/>
              </a:rPr>
              <a:t>输入文档 → 结构化解析与切块 → 文本优先检索 → 生成阶段视觉辅助 → 答案与</a:t>
            </a:r>
            <a:r>
              <a:rPr lang="en-US" altLang="zh-CN" sz="2000">
                <a:latin typeface="Noto Sans SC" panose="020B0200000000000000" charset="-122"/>
                <a:ea typeface="Noto Sans SC" panose="020B0200000000000000" charset="-122"/>
                <a:cs typeface="Noto Sans SC" panose="020B0200000000000000" charset="-122"/>
              </a:rPr>
              <a:t>Citation</a:t>
            </a:r>
            <a:r>
              <a:rPr lang="zh-CN" altLang="en-US" sz="2000">
                <a:latin typeface="Noto Sans SC" panose="020B0200000000000000" charset="-122"/>
                <a:ea typeface="Noto Sans SC" panose="020B0200000000000000" charset="-122"/>
                <a:cs typeface="Noto Sans SC" panose="020B0200000000000000" charset="-122"/>
              </a:rPr>
              <a:t>输出</a:t>
            </a:r>
            <a:endParaRPr sz="2000">
              <a:latin typeface="Noto Sans SC" panose="020B0200000000000000" charset="-122"/>
              <a:ea typeface="Noto Sans SC" panose="020B0200000000000000" charset="-122"/>
              <a:cs typeface="Noto Sans SC" panose="020B0200000000000000" charset="-122"/>
            </a:endParaRPr>
          </a:p>
        </p:txBody>
      </p:sp>
      <p:sp>
        <p:nvSpPr>
          <p:cNvPr id="28" name="AutoShape 28"/>
          <p:cNvSpPr/>
          <p:nvPr/>
        </p:nvSpPr>
        <p:spPr>
          <a:xfrm>
            <a:off x="508000" y="1397000"/>
            <a:ext cx="1104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5" name="AutoShape 4"/>
          <p:cNvSpPr/>
          <p:nvPr>
            <p:custDataLst>
              <p:tags r:id="rId3"/>
            </p:custDataLst>
          </p:nvPr>
        </p:nvSpPr>
        <p:spPr>
          <a:xfrm>
            <a:off x="7505065" y="2103755"/>
            <a:ext cx="4403725" cy="4172585"/>
          </a:xfrm>
          <a:prstGeom prst="roundRect">
            <a:avLst>
              <a:gd name="adj" fmla="val 3846"/>
            </a:avLst>
          </a:prstGeom>
          <a:solidFill>
            <a:srgbClr val="F8F9FA">
              <a:alpha val="100000"/>
            </a:srgbClr>
          </a:solidFill>
          <a:ln w="25400" cap="flat" cmpd="sng">
            <a:noFill/>
            <a:prstDash val="solid"/>
            <a:round/>
          </a:ln>
          <a:effectLst>
            <a:outerShdw blurRad="190500" dist="63500" dir="5400000" algn="tl" rotWithShape="0">
              <a:srgbClr val="000000">
                <a:alpha val="8000"/>
              </a:srgbClr>
            </a:outerShdw>
          </a:effectLst>
        </p:spPr>
        <p:txBody>
          <a:bodyPr vert="horz" wrap="square" lIns="0" tIns="0" rIns="0" bIns="0" rtlCol="0" anchor="ctr" anchorCtr="0"/>
          <a:lstStyle/>
          <a:p>
            <a:pPr algn="ctr">
              <a:defRPr/>
            </a:pPr>
          </a:p>
        </p:txBody>
      </p:sp>
      <p:sp>
        <p:nvSpPr>
          <p:cNvPr id="7" name="AutoShape 6"/>
          <p:cNvSpPr/>
          <p:nvPr>
            <p:custDataLst>
              <p:tags r:id="rId4"/>
            </p:custDataLst>
          </p:nvPr>
        </p:nvSpPr>
        <p:spPr>
          <a:xfrm>
            <a:off x="7597140" y="2103120"/>
            <a:ext cx="4051935" cy="4212590"/>
          </a:xfrm>
          <a:prstGeom prst="rect">
            <a:avLst/>
          </a:prstGeom>
          <a:noFill/>
          <a:ln w="12700" cap="flat" cmpd="sng">
            <a:noFill/>
            <a:prstDash val="solid"/>
            <a:round/>
          </a:ln>
        </p:spPr>
        <p:txBody>
          <a:bodyPr vert="horz" wrap="square" lIns="0" tIns="0" rIns="0" bIns="0" rtlCol="0" anchor="ctr" anchorCtr="0"/>
          <a:lstStyle/>
          <a:p>
            <a:pPr marL="342900" indent="-342900" algn="l">
              <a:lnSpc>
                <a:spcPct val="125000"/>
              </a:lnSpc>
              <a:buFont typeface="Arial" panose="020B0604020202020204" pitchFamily="34" charset="0"/>
              <a:buChar char="•"/>
              <a:defRPr/>
            </a:pPr>
            <a:r>
              <a:rPr lang="en-US" altLang="zh-CN" sz="1800" dirty="0">
                <a:latin typeface="Noto Sans SC" panose="020B0200000000000000" charset="-122"/>
                <a:ea typeface="Noto Sans SC" panose="020B0200000000000000" charset="-122"/>
                <a:cs typeface="Noto Sans SC" panose="020B0200000000000000" charset="-122"/>
              </a:rPr>
              <a:t>MinerU </a:t>
            </a:r>
            <a:r>
              <a:rPr lang="zh-CN" altLang="en-US" sz="1800" dirty="0">
                <a:latin typeface="Noto Sans SC" panose="020B0200000000000000" charset="-122"/>
                <a:ea typeface="Noto Sans SC" panose="020B0200000000000000" charset="-122"/>
                <a:cs typeface="Noto Sans SC" panose="020B0200000000000000" charset="-122"/>
              </a:rPr>
              <a:t>对输入文档进行结构化解析，提取页面中的标题、正文、表格与图像等信息，并构建 </a:t>
            </a:r>
            <a:r>
              <a:rPr lang="en-US" altLang="zh-CN" sz="1800" dirty="0">
                <a:latin typeface="Noto Sans SC" panose="020B0200000000000000" charset="-122"/>
                <a:ea typeface="Noto Sans SC" panose="020B0200000000000000" charset="-122"/>
                <a:cs typeface="Noto Sans SC" panose="020B0200000000000000" charset="-122"/>
              </a:rPr>
              <a:t>chunk </a:t>
            </a:r>
            <a:r>
              <a:rPr lang="zh-CN" altLang="en-US" sz="1800" dirty="0">
                <a:latin typeface="Noto Sans SC" panose="020B0200000000000000" charset="-122"/>
                <a:ea typeface="Noto Sans SC" panose="020B0200000000000000" charset="-122"/>
                <a:cs typeface="Noto Sans SC" panose="020B0200000000000000" charset="-122"/>
              </a:rPr>
              <a:t>级证据单元。</a:t>
            </a:r>
            <a:endParaRPr lang="zh-CN" altLang="en-US" sz="1800" dirty="0">
              <a:latin typeface="Noto Sans SC" panose="020B0200000000000000" charset="-122"/>
              <a:ea typeface="Noto Sans SC" panose="020B0200000000000000" charset="-122"/>
              <a:cs typeface="Noto Sans SC" panose="020B0200000000000000" charset="-122"/>
            </a:endParaRPr>
          </a:p>
          <a:p>
            <a:pPr marL="342900" indent="-342900" algn="l">
              <a:lnSpc>
                <a:spcPct val="125000"/>
              </a:lnSpc>
              <a:buFont typeface="Arial" panose="020B0604020202020204" pitchFamily="34" charset="0"/>
              <a:buChar char="•"/>
              <a:defRPr/>
            </a:pPr>
            <a:r>
              <a:rPr lang="zh-CN" altLang="en-US" sz="1800" dirty="0">
                <a:latin typeface="Noto Sans SC" panose="020B0200000000000000" charset="-122"/>
                <a:ea typeface="Noto Sans SC" panose="020B0200000000000000" charset="-122"/>
                <a:cs typeface="Noto Sans SC" panose="020B0200000000000000" charset="-122"/>
              </a:rPr>
              <a:t>用户问题首先进入文本优先检索模块，从证据库中召回并重排候选内容，确定主要证据路径。</a:t>
            </a:r>
            <a:endParaRPr lang="zh-CN" altLang="en-US" sz="1800" dirty="0">
              <a:latin typeface="Noto Sans SC" panose="020B0200000000000000" charset="-122"/>
              <a:ea typeface="Noto Sans SC" panose="020B0200000000000000" charset="-122"/>
              <a:cs typeface="Noto Sans SC" panose="020B0200000000000000" charset="-122"/>
            </a:endParaRPr>
          </a:p>
          <a:p>
            <a:pPr marL="342900" indent="-342900" algn="l">
              <a:lnSpc>
                <a:spcPct val="125000"/>
              </a:lnSpc>
              <a:buFont typeface="Arial" panose="020B0604020202020204" pitchFamily="34" charset="0"/>
              <a:buChar char="•"/>
              <a:defRPr/>
            </a:pPr>
            <a:r>
              <a:rPr lang="zh-CN" altLang="en-US" sz="1800" dirty="0">
                <a:latin typeface="Noto Sans SC" panose="020B0200000000000000" charset="-122"/>
                <a:ea typeface="Noto Sans SC" panose="020B0200000000000000" charset="-122"/>
                <a:cs typeface="Noto Sans SC" panose="020B0200000000000000" charset="-122"/>
              </a:rPr>
              <a:t>在生成阶段，系统以文本证据为主，并在必要时引入页面图像进行视觉辅助。</a:t>
            </a:r>
            <a:endParaRPr lang="zh-CN" altLang="en-US" sz="1800" dirty="0">
              <a:latin typeface="Noto Sans SC" panose="020B0200000000000000" charset="-122"/>
              <a:ea typeface="Noto Sans SC" panose="020B0200000000000000" charset="-122"/>
              <a:cs typeface="Noto Sans SC" panose="020B0200000000000000" charset="-122"/>
            </a:endParaRPr>
          </a:p>
          <a:p>
            <a:pPr marL="342900" indent="-342900" algn="l">
              <a:lnSpc>
                <a:spcPct val="125000"/>
              </a:lnSpc>
              <a:buFont typeface="Arial" panose="020B0604020202020204" pitchFamily="34" charset="0"/>
              <a:buChar char="•"/>
              <a:defRPr/>
            </a:pPr>
            <a:r>
              <a:rPr lang="zh-CN" altLang="en-US" sz="1800" dirty="0">
                <a:latin typeface="Noto Sans SC" panose="020B0200000000000000" charset="-122"/>
                <a:ea typeface="Noto Sans SC" panose="020B0200000000000000" charset="-122"/>
                <a:cs typeface="Noto Sans SC" panose="020B0200000000000000" charset="-122"/>
              </a:rPr>
              <a:t>最终输出答案及 </a:t>
            </a:r>
            <a:r>
              <a:rPr lang="en-US" altLang="zh-CN" sz="1800" dirty="0">
                <a:latin typeface="Noto Sans SC" panose="020B0200000000000000" charset="-122"/>
                <a:ea typeface="Noto Sans SC" panose="020B0200000000000000" charset="-122"/>
                <a:cs typeface="Noto Sans SC" panose="020B0200000000000000" charset="-122"/>
              </a:rPr>
              <a:t>citation，</a:t>
            </a:r>
            <a:r>
              <a:rPr lang="zh-CN" altLang="en-US" sz="1800" dirty="0">
                <a:latin typeface="Noto Sans SC" panose="020B0200000000000000" charset="-122"/>
                <a:ea typeface="Noto Sans SC" panose="020B0200000000000000" charset="-122"/>
                <a:cs typeface="Noto Sans SC" panose="020B0200000000000000" charset="-122"/>
              </a:rPr>
              <a:t>支持回溯到具体页面与证据块。</a:t>
            </a:r>
            <a:endParaRPr lang="zh-CN" altLang="en-US" sz="1800" dirty="0">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08330" y="168275"/>
            <a:ext cx="106680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zh-CN" altLang="en-US" sz="3200" b="1" dirty="0">
                <a:solidFill>
                  <a:srgbClr val="00582F"/>
                </a:solidFill>
                <a:latin typeface="Noto Sans SC" panose="020B0200000000000000" charset="-122"/>
                <a:ea typeface="Noto Sans SC" panose="020B0200000000000000" charset="-122"/>
                <a:cs typeface="Noto Sans SC" panose="020B0200000000000000" charset="-122"/>
              </a:rPr>
              <a:t>前端表现</a:t>
            </a:r>
            <a:r>
              <a:rPr lang="en-US" altLang="zh-CN" sz="3200" b="1" dirty="0">
                <a:solidFill>
                  <a:srgbClr val="00582F"/>
                </a:solidFill>
                <a:latin typeface="Noto Sans SC" panose="020B0200000000000000" charset="-122"/>
                <a:ea typeface="Noto Sans SC" panose="020B0200000000000000" charset="-122"/>
                <a:cs typeface="Noto Sans SC" panose="020B0200000000000000" charset="-122"/>
              </a:rPr>
              <a:t> </a:t>
            </a:r>
            <a:endParaRPr lang="en-US" altLang="zh-CN" sz="3200" b="1" dirty="0">
              <a:solidFill>
                <a:srgbClr val="00582F"/>
              </a:solidFill>
              <a:latin typeface="Noto Sans SC" panose="020B0200000000000000" charset="-122"/>
              <a:ea typeface="Noto Sans SC" panose="020B0200000000000000" charset="-122"/>
              <a:cs typeface="Noto Sans SC" panose="020B0200000000000000" charset="-122"/>
            </a:endParaRPr>
          </a:p>
        </p:txBody>
      </p:sp>
      <p:pic>
        <p:nvPicPr>
          <p:cNvPr id="14" name="图片 13"/>
          <p:cNvPicPr>
            <a:picLocks noChangeAspect="1"/>
          </p:cNvPicPr>
          <p:nvPr/>
        </p:nvPicPr>
        <p:blipFill rotWithShape="1">
          <a:blip r:embed="rId1"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pic>
        <p:nvPicPr>
          <p:cNvPr id="4" name="图片 3"/>
          <p:cNvPicPr>
            <a:picLocks noChangeAspect="1"/>
          </p:cNvPicPr>
          <p:nvPr/>
        </p:nvPicPr>
        <p:blipFill>
          <a:blip r:embed="rId2"/>
          <a:stretch>
            <a:fillRect/>
          </a:stretch>
        </p:blipFill>
        <p:spPr>
          <a:xfrm>
            <a:off x="608330" y="1158875"/>
            <a:ext cx="9100185" cy="5403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125158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亮点与实验验证</a:t>
            </a:r>
            <a:endParaRPr lang="zh-CN" altLang="en-US" sz="3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2400"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实验结果汇总：当前最佳系统表现</a:t>
            </a:r>
            <a:endParaRPr lang="en-US" sz="2400"/>
          </a:p>
        </p:txBody>
      </p:sp>
      <p:sp>
        <p:nvSpPr>
          <p:cNvPr id="3" name="AutoShape 3"/>
          <p:cNvSpPr/>
          <p:nvPr>
            <p:custDataLst>
              <p:tags r:id="rId1"/>
            </p:custDataLst>
          </p:nvPr>
        </p:nvSpPr>
        <p:spPr>
          <a:xfrm>
            <a:off x="762000" y="2032000"/>
            <a:ext cx="3302000" cy="2159000"/>
          </a:xfrm>
          <a:prstGeom prst="roundRect">
            <a:avLst>
              <a:gd name="adj" fmla="val 7058"/>
            </a:avLst>
          </a:prstGeom>
          <a:solidFill>
            <a:srgbClr val="F8F9FA">
              <a:alpha val="100000"/>
            </a:srgbClr>
          </a:solidFill>
          <a:ln w="12700" cap="flat" cmpd="sng">
            <a:solidFill>
              <a:srgbClr val="E9ECEF">
                <a:alpha val="100000"/>
              </a:srgbClr>
            </a:solid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889000" y="2286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Hit@5 检索率</a:t>
            </a:r>
            <a:endParaRPr lang="en-US" sz="1100"/>
          </a:p>
        </p:txBody>
      </p:sp>
      <p:sp>
        <p:nvSpPr>
          <p:cNvPr id="5" name="AutoShape 5"/>
          <p:cNvSpPr/>
          <p:nvPr>
            <p:custDataLst>
              <p:tags r:id="rId3"/>
            </p:custDataLst>
          </p:nvPr>
        </p:nvSpPr>
        <p:spPr>
          <a:xfrm>
            <a:off x="889000" y="2794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0.95</a:t>
            </a:r>
            <a:endParaRPr lang="en-US" sz="1100"/>
          </a:p>
        </p:txBody>
      </p:sp>
      <p:sp>
        <p:nvSpPr>
          <p:cNvPr id="6" name="AutoShape 6"/>
          <p:cNvSpPr/>
          <p:nvPr>
            <p:custDataLst>
              <p:tags r:id="rId4"/>
            </p:custDataLst>
          </p:nvPr>
        </p:nvSpPr>
        <p:spPr>
          <a:xfrm>
            <a:off x="1016000" y="3556000"/>
            <a:ext cx="279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前5个证据中95%能精准定位到正确参考页面</a:t>
            </a:r>
            <a:endParaRPr lang="en-US" sz="1100"/>
          </a:p>
        </p:txBody>
      </p:sp>
      <p:sp>
        <p:nvSpPr>
          <p:cNvPr id="7" name="AutoShape 7"/>
          <p:cNvSpPr/>
          <p:nvPr>
            <p:custDataLst>
              <p:tags r:id="rId5"/>
            </p:custDataLst>
          </p:nvPr>
        </p:nvSpPr>
        <p:spPr>
          <a:xfrm>
            <a:off x="4445000" y="2032000"/>
            <a:ext cx="3302000" cy="2159000"/>
          </a:xfrm>
          <a:prstGeom prst="roundRect">
            <a:avLst>
              <a:gd name="adj" fmla="val 7058"/>
            </a:avLst>
          </a:prstGeom>
          <a:solidFill>
            <a:srgbClr val="F8F9FA">
              <a:alpha val="100000"/>
            </a:srgbClr>
          </a:solidFill>
          <a:ln w="12700" cap="flat" cmpd="sng">
            <a:solidFill>
              <a:srgbClr val="E9ECEF">
                <a:alpha val="100000"/>
              </a:srgbClr>
            </a:solid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4572000" y="2286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Citation@1 精准度</a:t>
            </a:r>
            <a:endParaRPr lang="en-US" sz="1100"/>
          </a:p>
        </p:txBody>
      </p:sp>
      <p:sp>
        <p:nvSpPr>
          <p:cNvPr id="9" name="AutoShape 9"/>
          <p:cNvSpPr/>
          <p:nvPr>
            <p:custDataLst>
              <p:tags r:id="rId7"/>
            </p:custDataLst>
          </p:nvPr>
        </p:nvSpPr>
        <p:spPr>
          <a:xfrm>
            <a:off x="4572000" y="2794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0.90</a:t>
            </a:r>
            <a:endParaRPr lang="en-US" sz="1100"/>
          </a:p>
        </p:txBody>
      </p:sp>
      <p:sp>
        <p:nvSpPr>
          <p:cNvPr id="10" name="AutoShape 10"/>
          <p:cNvSpPr/>
          <p:nvPr>
            <p:custDataLst>
              <p:tags r:id="rId8"/>
            </p:custDataLst>
          </p:nvPr>
        </p:nvSpPr>
        <p:spPr>
          <a:xfrm>
            <a:off x="4699000" y="3556000"/>
            <a:ext cx="279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首条引用来源90%为真实、正确的证据</a:t>
            </a:r>
            <a:endParaRPr lang="en-US" sz="1100"/>
          </a:p>
        </p:txBody>
      </p:sp>
      <p:sp>
        <p:nvSpPr>
          <p:cNvPr id="11" name="AutoShape 11"/>
          <p:cNvSpPr/>
          <p:nvPr>
            <p:custDataLst>
              <p:tags r:id="rId9"/>
            </p:custDataLst>
          </p:nvPr>
        </p:nvSpPr>
        <p:spPr>
          <a:xfrm>
            <a:off x="8128000" y="2032000"/>
            <a:ext cx="3302000" cy="2159000"/>
          </a:xfrm>
          <a:prstGeom prst="roundRect">
            <a:avLst>
              <a:gd name="adj" fmla="val 7058"/>
            </a:avLst>
          </a:prstGeom>
          <a:solidFill>
            <a:srgbClr val="F8F9FA">
              <a:alpha val="100000"/>
            </a:srgbClr>
          </a:solidFill>
          <a:ln w="12700" cap="flat" cmpd="sng">
            <a:solidFill>
              <a:srgbClr val="E9ECEF">
                <a:alpha val="100000"/>
              </a:srgbClr>
            </a:solid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8255000" y="2286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Exact Match</a:t>
            </a:r>
            <a:endParaRPr lang="en-US" sz="1100"/>
          </a:p>
        </p:txBody>
      </p:sp>
      <p:sp>
        <p:nvSpPr>
          <p:cNvPr id="13" name="AutoShape 13"/>
          <p:cNvSpPr/>
          <p:nvPr>
            <p:custDataLst>
              <p:tags r:id="rId11"/>
            </p:custDataLst>
          </p:nvPr>
        </p:nvSpPr>
        <p:spPr>
          <a:xfrm>
            <a:off x="8255000" y="2794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0.87</a:t>
            </a:r>
            <a:endParaRPr lang="en-US" sz="1100"/>
          </a:p>
        </p:txBody>
      </p:sp>
      <p:sp>
        <p:nvSpPr>
          <p:cNvPr id="14" name="AutoShape 14"/>
          <p:cNvSpPr/>
          <p:nvPr>
            <p:custDataLst>
              <p:tags r:id="rId12"/>
            </p:custDataLst>
          </p:nvPr>
        </p:nvSpPr>
        <p:spPr>
          <a:xfrm>
            <a:off x="8382000" y="3556000"/>
            <a:ext cx="279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生成答案与标准答案完全一致比例达87%</a:t>
            </a:r>
            <a:endParaRPr lang="en-US" sz="1100"/>
          </a:p>
        </p:txBody>
      </p:sp>
      <p:sp>
        <p:nvSpPr>
          <p:cNvPr id="15" name="AutoShape 15"/>
          <p:cNvSpPr/>
          <p:nvPr>
            <p:custDataLst>
              <p:tags r:id="rId13"/>
            </p:custDataLst>
          </p:nvPr>
        </p:nvSpPr>
        <p:spPr>
          <a:xfrm>
            <a:off x="2603500" y="4445000"/>
            <a:ext cx="3302000" cy="2159000"/>
          </a:xfrm>
          <a:prstGeom prst="roundRect">
            <a:avLst>
              <a:gd name="adj" fmla="val 7058"/>
            </a:avLst>
          </a:prstGeom>
          <a:solidFill>
            <a:srgbClr val="F8F9FA">
              <a:alpha val="100000"/>
            </a:srgbClr>
          </a:solidFill>
          <a:ln w="12700" cap="flat" cmpd="sng">
            <a:solidFill>
              <a:srgbClr val="E9ECEF">
                <a:alpha val="100000"/>
              </a:srgbClr>
            </a:solid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16" name="AutoShape 16"/>
          <p:cNvSpPr/>
          <p:nvPr>
            <p:custDataLst>
              <p:tags r:id="rId14"/>
            </p:custDataLst>
          </p:nvPr>
        </p:nvSpPr>
        <p:spPr>
          <a:xfrm>
            <a:off x="2730500" y="4699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ANLS 相似度</a:t>
            </a:r>
            <a:endParaRPr lang="en-US" sz="1100"/>
          </a:p>
        </p:txBody>
      </p:sp>
      <p:sp>
        <p:nvSpPr>
          <p:cNvPr id="17" name="AutoShape 17"/>
          <p:cNvSpPr/>
          <p:nvPr>
            <p:custDataLst>
              <p:tags r:id="rId15"/>
            </p:custDataLst>
          </p:nvPr>
        </p:nvSpPr>
        <p:spPr>
          <a:xfrm>
            <a:off x="2730500" y="5207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0.96</a:t>
            </a:r>
            <a:endParaRPr lang="en-US" sz="1100"/>
          </a:p>
        </p:txBody>
      </p:sp>
      <p:sp>
        <p:nvSpPr>
          <p:cNvPr id="18" name="AutoShape 18"/>
          <p:cNvSpPr/>
          <p:nvPr>
            <p:custDataLst>
              <p:tags r:id="rId16"/>
            </p:custDataLst>
          </p:nvPr>
        </p:nvSpPr>
        <p:spPr>
          <a:xfrm>
            <a:off x="2857500" y="5969000"/>
            <a:ext cx="279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允许微小表达差异时语义相似度极高</a:t>
            </a:r>
            <a:endParaRPr lang="en-US" sz="1100"/>
          </a:p>
        </p:txBody>
      </p:sp>
      <p:sp>
        <p:nvSpPr>
          <p:cNvPr id="19" name="AutoShape 19"/>
          <p:cNvSpPr/>
          <p:nvPr>
            <p:custDataLst>
              <p:tags r:id="rId17"/>
            </p:custDataLst>
          </p:nvPr>
        </p:nvSpPr>
        <p:spPr>
          <a:xfrm>
            <a:off x="7048500" y="4445000"/>
            <a:ext cx="3302000" cy="2159000"/>
          </a:xfrm>
          <a:prstGeom prst="roundRect">
            <a:avLst>
              <a:gd name="adj" fmla="val 7058"/>
            </a:avLst>
          </a:prstGeom>
          <a:solidFill>
            <a:srgbClr val="F8F9FA">
              <a:alpha val="100000"/>
            </a:srgbClr>
          </a:solidFill>
          <a:ln w="12700" cap="flat" cmpd="sng">
            <a:solidFill>
              <a:srgbClr val="E9ECEF">
                <a:alpha val="100000"/>
              </a:srgbClr>
            </a:solidFill>
            <a:prstDash val="solid"/>
            <a:round/>
          </a:ln>
          <a:effectLst>
            <a:outerShdw blurRad="190500" dist="63500" dir="5400000" algn="tl" rotWithShape="0">
              <a:srgbClr val="000000">
                <a:alpha val="8000"/>
              </a:srgbClr>
            </a:outerShdw>
          </a:effectLst>
        </p:spPr>
        <p:txBody>
          <a:bodyPr vert="horz" wrap="square" lIns="63500" tIns="63500" rIns="63500" bIns="63500" rtlCol="0" anchor="ctr"/>
          <a:lstStyle/>
          <a:p>
            <a:pPr algn="ctr">
              <a:defRPr/>
            </a:pPr>
          </a:p>
        </p:txBody>
      </p:sp>
      <p:sp>
        <p:nvSpPr>
          <p:cNvPr id="20" name="AutoShape 20"/>
          <p:cNvSpPr/>
          <p:nvPr>
            <p:custDataLst>
              <p:tags r:id="rId18"/>
            </p:custDataLst>
          </p:nvPr>
        </p:nvSpPr>
        <p:spPr>
          <a:xfrm>
            <a:off x="7175500" y="4699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Token-F1</a:t>
            </a:r>
            <a:endParaRPr lang="en-US" sz="1100"/>
          </a:p>
        </p:txBody>
      </p:sp>
      <p:sp>
        <p:nvSpPr>
          <p:cNvPr id="21" name="AutoShape 21"/>
          <p:cNvSpPr/>
          <p:nvPr>
            <p:custDataLst>
              <p:tags r:id="rId19"/>
            </p:custDataLst>
          </p:nvPr>
        </p:nvSpPr>
        <p:spPr>
          <a:xfrm>
            <a:off x="7175500" y="5207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0.95</a:t>
            </a:r>
            <a:endParaRPr lang="en-US" sz="1100"/>
          </a:p>
        </p:txBody>
      </p:sp>
      <p:sp>
        <p:nvSpPr>
          <p:cNvPr id="22" name="AutoShape 22"/>
          <p:cNvSpPr/>
          <p:nvPr>
            <p:custDataLst>
              <p:tags r:id="rId20"/>
            </p:custDataLst>
          </p:nvPr>
        </p:nvSpPr>
        <p:spPr>
          <a:xfrm>
            <a:off x="7302500" y="5969000"/>
            <a:ext cx="279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词项层面F1分数显示细节高度重合</a:t>
            </a:r>
            <a:endParaRPr lang="en-US" sz="1100"/>
          </a:p>
        </p:txBody>
      </p:sp>
      <p:pic>
        <p:nvPicPr>
          <p:cNvPr id="24" name="图片 23"/>
          <p:cNvPicPr>
            <a:picLocks noChangeAspect="1"/>
          </p:cNvPicPr>
          <p:nvPr/>
        </p:nvPicPr>
        <p:blipFill rotWithShape="1">
          <a:blip r:embed="rId21"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消融实验结论（一）：索引粒度非瓶颈</a:t>
            </a:r>
            <a:endParaRPr lang="en-US" sz="1100"/>
          </a:p>
        </p:txBody>
      </p:sp>
      <p:sp>
        <p:nvSpPr>
          <p:cNvPr id="3" name="AutoShape 3"/>
          <p:cNvSpPr/>
          <p:nvPr/>
        </p:nvSpPr>
        <p:spPr>
          <a:xfrm>
            <a:off x="508000" y="1524000"/>
            <a:ext cx="11176000" cy="1397000"/>
          </a:xfrm>
          <a:prstGeom prst="roundRect">
            <a:avLst>
              <a:gd name="adj" fmla="val 0"/>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524000"/>
            <a:ext cx="76200" cy="1397000"/>
          </a:xfrm>
          <a:prstGeom prst="roundRect">
            <a:avLst>
              <a:gd name="adj" fmla="val 0"/>
            </a:avLst>
          </a:prstGeom>
          <a:solidFill>
            <a:srgbClr val="0058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核心结论：索引切分与模态并非性能关键因素</a:t>
            </a:r>
            <a:endPar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endParaRPr lang="en-US" sz="1100" dirty="0"/>
          </a:p>
          <a:p>
            <a:pPr marL="0" indent="0" algn="l">
              <a:lnSpc>
                <a:spcPct val="108000"/>
              </a:lnSpc>
            </a:pPr>
            <a:r>
              <a:rPr lang="en-US" sz="16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在100页评测子集验证中，页级文本、块级文本与块级多模态索引的核心检索指标表现高度一致，说明当前系统的性能瓶颈并不受索引粒度粗细或模态丰富度的直接影响。</a:t>
            </a:r>
            <a:endParaRPr lang="en-US" sz="16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508000" y="3302000"/>
            <a:ext cx="1117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不同索引变体的性能对比</a:t>
            </a:r>
            <a:endParaRPr lang="en-US" sz="1100" dirty="0"/>
          </a:p>
        </p:txBody>
      </p:sp>
      <p:cxnSp>
        <p:nvCxnSpPr>
          <p:cNvPr id="7" name="Connector 7"/>
          <p:cNvCxnSpPr/>
          <p:nvPr/>
        </p:nvCxnSpPr>
        <p:spPr>
          <a:xfrm rot="-3906">
            <a:off x="508004" y="3867150"/>
            <a:ext cx="11176000" cy="12700"/>
          </a:xfrm>
          <a:prstGeom prst="straightConnector1">
            <a:avLst/>
          </a:prstGeom>
          <a:solidFill>
            <a:srgbClr val="DEE0E3">
              <a:alpha val="100000"/>
            </a:srgbClr>
          </a:solidFill>
          <a:ln w="12700" cap="flat" cmpd="sng">
            <a:solidFill>
              <a:srgbClr val="00582F">
                <a:alpha val="20000"/>
              </a:srgbClr>
            </a:solidFill>
            <a:prstDash val="solid"/>
            <a:round/>
            <a:headEnd type="none" w="med" len="med"/>
            <a:tailEnd type="none" w="med" len="med"/>
          </a:ln>
        </p:spPr>
      </p:cxnSp>
      <p:sp>
        <p:nvSpPr>
          <p:cNvPr id="8" name="AutoShape 8"/>
          <p:cNvSpPr/>
          <p:nvPr/>
        </p:nvSpPr>
        <p:spPr>
          <a:xfrm>
            <a:off x="508000" y="4191000"/>
            <a:ext cx="3556000" cy="1524000"/>
          </a:xfrm>
          <a:prstGeom prst="roundRect">
            <a:avLst>
              <a:gd name="adj" fmla="val 0"/>
            </a:avLst>
          </a:prstGeom>
          <a:solidFill>
            <a:srgbClr val="00582F">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98500" y="4318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800" b="1" i="0" u="none" strike="noStrike"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页级文本索引</a:t>
            </a:r>
            <a:r>
              <a:rPr lang="en-US" sz="18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dirty="0"/>
          </a:p>
        </p:txBody>
      </p:sp>
      <p:cxnSp>
        <p:nvCxnSpPr>
          <p:cNvPr id="10" name="Connector 10"/>
          <p:cNvCxnSpPr/>
          <p:nvPr/>
        </p:nvCxnSpPr>
        <p:spPr>
          <a:xfrm rot="-13750">
            <a:off x="698513" y="4819650"/>
            <a:ext cx="3175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1" name="AutoShape 11"/>
          <p:cNvSpPr/>
          <p:nvPr/>
        </p:nvSpPr>
        <p:spPr>
          <a:xfrm>
            <a:off x="698500" y="4953000"/>
            <a:ext cx="152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Hit@5 指标</a:t>
            </a:r>
            <a:endParaRPr lang="en-US" sz="1100"/>
          </a:p>
          <a:p>
            <a:pPr marL="0" indent="0" algn="l">
              <a:lnSpc>
                <a:spcPct val="125000"/>
              </a:lnSpc>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0.95</a:t>
            </a:r>
            <a:endPar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5314074">
            <a:off x="2032000" y="5264229"/>
            <a:ext cx="508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3" name="AutoShape 13"/>
          <p:cNvSpPr/>
          <p:nvPr/>
        </p:nvSpPr>
        <p:spPr>
          <a:xfrm>
            <a:off x="2413000" y="4953000"/>
            <a:ext cx="152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Citation@1 指标</a:t>
            </a:r>
            <a:endParaRPr lang="en-US" sz="1100"/>
          </a:p>
          <a:p>
            <a:pPr marL="0" indent="0" algn="l">
              <a:lnSpc>
                <a:spcPct val="125000"/>
              </a:lnSpc>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0.91</a:t>
            </a:r>
            <a:endPar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4318000" y="4191000"/>
            <a:ext cx="3556000" cy="1524000"/>
          </a:xfrm>
          <a:prstGeom prst="roundRect">
            <a:avLst>
              <a:gd name="adj" fmla="val 0"/>
            </a:avLst>
          </a:prstGeom>
          <a:solidFill>
            <a:srgbClr val="00582F">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508500" y="4318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800" b="1" i="0" u="none" strike="noStrike"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块级文本索引</a:t>
            </a:r>
            <a:r>
              <a:rPr lang="en-US" sz="18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dirty="0"/>
          </a:p>
        </p:txBody>
      </p:sp>
      <p:cxnSp>
        <p:nvCxnSpPr>
          <p:cNvPr id="16" name="Connector 16"/>
          <p:cNvCxnSpPr/>
          <p:nvPr/>
        </p:nvCxnSpPr>
        <p:spPr>
          <a:xfrm rot="-13750">
            <a:off x="4508513" y="4819650"/>
            <a:ext cx="3175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7" name="AutoShape 17"/>
          <p:cNvSpPr/>
          <p:nvPr/>
        </p:nvSpPr>
        <p:spPr>
          <a:xfrm>
            <a:off x="4508500" y="4953000"/>
            <a:ext cx="152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Hit@5 指标</a:t>
            </a:r>
            <a:endParaRPr lang="en-US" sz="1100"/>
          </a:p>
          <a:p>
            <a:pPr marL="0" indent="0" algn="l">
              <a:lnSpc>
                <a:spcPct val="125000"/>
              </a:lnSpc>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0.95</a:t>
            </a:r>
            <a:endPar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8" name="Connector 18"/>
          <p:cNvCxnSpPr/>
          <p:nvPr/>
        </p:nvCxnSpPr>
        <p:spPr>
          <a:xfrm rot="5314074">
            <a:off x="5842000" y="5264229"/>
            <a:ext cx="508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9" name="AutoShape 19"/>
          <p:cNvSpPr/>
          <p:nvPr/>
        </p:nvSpPr>
        <p:spPr>
          <a:xfrm>
            <a:off x="6223000" y="4953000"/>
            <a:ext cx="152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Citation@1 指标</a:t>
            </a:r>
            <a:endParaRPr lang="en-US" sz="1100"/>
          </a:p>
          <a:p>
            <a:pPr marL="0" indent="0" algn="l">
              <a:lnSpc>
                <a:spcPct val="125000"/>
              </a:lnSpc>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0.91</a:t>
            </a:r>
            <a:endPar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8128000" y="4191000"/>
            <a:ext cx="3556000" cy="1524000"/>
          </a:xfrm>
          <a:prstGeom prst="roundRect">
            <a:avLst>
              <a:gd name="adj" fmla="val 0"/>
            </a:avLst>
          </a:prstGeom>
          <a:solidFill>
            <a:srgbClr val="00582F">
              <a:alpha val="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18500" y="4318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1800" b="1" i="0" u="none" strike="noStrike"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块级多模态索引</a:t>
            </a:r>
            <a:r>
              <a:rPr lang="en-US" sz="18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dirty="0"/>
          </a:p>
        </p:txBody>
      </p:sp>
      <p:cxnSp>
        <p:nvCxnSpPr>
          <p:cNvPr id="22" name="Connector 22"/>
          <p:cNvCxnSpPr/>
          <p:nvPr/>
        </p:nvCxnSpPr>
        <p:spPr>
          <a:xfrm rot="-13750">
            <a:off x="8318513" y="4819650"/>
            <a:ext cx="3175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3" name="AutoShape 23"/>
          <p:cNvSpPr/>
          <p:nvPr/>
        </p:nvSpPr>
        <p:spPr>
          <a:xfrm>
            <a:off x="8318500" y="4953000"/>
            <a:ext cx="152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Hit@5 指标</a:t>
            </a:r>
            <a:endParaRPr lang="en-US" sz="1100"/>
          </a:p>
          <a:p>
            <a:pPr marL="0" indent="0" algn="l">
              <a:lnSpc>
                <a:spcPct val="125000"/>
              </a:lnSpc>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0.95</a:t>
            </a:r>
            <a:endPar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4" name="Connector 24"/>
          <p:cNvCxnSpPr/>
          <p:nvPr/>
        </p:nvCxnSpPr>
        <p:spPr>
          <a:xfrm rot="5314074">
            <a:off x="9652000" y="5264229"/>
            <a:ext cx="508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5" name="AutoShape 25"/>
          <p:cNvSpPr/>
          <p:nvPr/>
        </p:nvSpPr>
        <p:spPr>
          <a:xfrm>
            <a:off x="10033000" y="4953000"/>
            <a:ext cx="152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Citation@1 指标</a:t>
            </a:r>
            <a:endParaRPr lang="en-US" sz="1100"/>
          </a:p>
          <a:p>
            <a:pPr marL="0" indent="0" algn="l">
              <a:lnSpc>
                <a:spcPct val="125000"/>
              </a:lnSpc>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0.91</a:t>
            </a:r>
            <a:endPar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508000" y="5969000"/>
            <a:ext cx="11176000" cy="635000"/>
          </a:xfrm>
          <a:prstGeom prst="roundRect">
            <a:avLst>
              <a:gd name="adj" fmla="val 0"/>
            </a:avLst>
          </a:prstGeom>
          <a:solidFill>
            <a:srgbClr val="00582F">
              <a:alpha val="8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6108700"/>
            <a:ext cx="355600" cy="355600"/>
          </a:xfrm>
          <a:prstGeom prst="rect">
            <a:avLst/>
          </a:prstGeom>
        </p:spPr>
      </p:pic>
      <p:sp>
        <p:nvSpPr>
          <p:cNvPr id="28" name="AutoShape 28"/>
          <p:cNvSpPr/>
          <p:nvPr/>
        </p:nvSpPr>
        <p:spPr>
          <a:xfrm>
            <a:off x="1206500" y="5969000"/>
            <a:ext cx="1035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关键启示：现阶段无需过度优化索引颗粒度，检索排序算法对正确证据的前置能力才是性能提升的核心抓手。</a:t>
            </a:r>
            <a:endParaRPr lang="en-US" sz="1100"/>
          </a:p>
        </p:txBody>
      </p:sp>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消融实验结论（二）：门控策略的负优化</a:t>
            </a:r>
            <a:endParaRPr lang="en-US" sz="1100"/>
          </a:p>
        </p:txBody>
      </p:sp>
      <p:cxnSp>
        <p:nvCxnSpPr>
          <p:cNvPr id="3" name="Connector 3"/>
          <p:cNvCxnSpPr/>
          <p:nvPr/>
        </p:nvCxnSpPr>
        <p:spPr>
          <a:xfrm rot="-3906">
            <a:off x="508004" y="1390650"/>
            <a:ext cx="11176000" cy="12700"/>
          </a:xfrm>
          <a:prstGeom prst="straightConnector1">
            <a:avLst/>
          </a:prstGeom>
          <a:solidFill>
            <a:srgbClr val="DEE0E3">
              <a:alpha val="100000"/>
            </a:srgbClr>
          </a:solidFill>
          <a:ln w="12700" cap="flat" cmpd="sng">
            <a:solidFill>
              <a:srgbClr val="00582F">
                <a:alpha val="20000"/>
              </a:srgbClr>
            </a:solidFill>
            <a:prstDash val="solid"/>
            <a:round/>
            <a:headEnd type="none" w="med" len="med"/>
            <a:tailEnd type="none" w="med" len="med"/>
          </a:ln>
        </p:spPr>
      </p:cxnSp>
      <p:sp>
        <p:nvSpPr>
          <p:cNvPr id="4" name="AutoShape 4"/>
          <p:cNvSpPr/>
          <p:nvPr/>
        </p:nvSpPr>
        <p:spPr>
          <a:xfrm>
            <a:off x="508000" y="1778000"/>
            <a:ext cx="11176000" cy="1651000"/>
          </a:xfrm>
          <a:prstGeom prst="roundRect">
            <a:avLst>
              <a:gd name="adj" fmla="val 0"/>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1778000"/>
            <a:ext cx="101600" cy="1651000"/>
          </a:xfrm>
          <a:prstGeom prst="roundRect">
            <a:avLst>
              <a:gd name="adj" fmla="val 0"/>
            </a:avLst>
          </a:prstGeom>
          <a:solidFill>
            <a:srgbClr val="0058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12800" y="1905000"/>
            <a:ext cx="10617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zh-CN" alt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门控策略过于保守，构成系统“负优化</a:t>
            </a:r>
            <a:r>
              <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defRPr/>
            </a:pPr>
            <a:endParaRPr lang="en-US" sz="1100" dirty="0"/>
          </a:p>
          <a:p>
            <a:pPr marL="0" indent="0" algn="l">
              <a:lnSpc>
                <a:spcPct val="117000"/>
              </a:lnSpc>
            </a:pPr>
            <a:r>
              <a:rPr lang="en-US" sz="16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视觉辅助模块本身具备显著的性能增益潜力，实验证明“视觉有没有用”并非问题核心；真正的瓶颈在于现有门控逻辑未能在关键决策时刻及时调动视觉能力，反而限制了系统的表现上限。</a:t>
            </a:r>
            <a:endParaRPr lang="en-US" sz="16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508000" y="3810000"/>
            <a:ext cx="1117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不同视觉辅助策略的</a:t>
            </a:r>
            <a:r>
              <a:rPr lang="en-US" sz="2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EM </a:t>
            </a:r>
            <a:r>
              <a:rPr lang="en-US" sz="24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分数对比</a:t>
            </a:r>
            <a:endParaRPr lang="en-US" sz="1100" dirty="0"/>
          </a:p>
        </p:txBody>
      </p:sp>
      <p:sp>
        <p:nvSpPr>
          <p:cNvPr id="8" name="AutoShape 8"/>
          <p:cNvSpPr/>
          <p:nvPr/>
        </p:nvSpPr>
        <p:spPr>
          <a:xfrm>
            <a:off x="508000" y="4572000"/>
            <a:ext cx="3556000" cy="1524000"/>
          </a:xfrm>
          <a:prstGeom prst="roundRect">
            <a:avLst>
              <a:gd name="adj" fmla="val 0"/>
            </a:avLst>
          </a:prstGeom>
          <a:solidFill>
            <a:srgbClr val="00582F">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98500" y="4699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仅文本策略 (Text Only)</a:t>
            </a:r>
            <a:endParaRPr lang="en-US" sz="1100"/>
          </a:p>
        </p:txBody>
      </p:sp>
      <p:cxnSp>
        <p:nvCxnSpPr>
          <p:cNvPr id="10" name="Connector 10"/>
          <p:cNvCxnSpPr/>
          <p:nvPr/>
        </p:nvCxnSpPr>
        <p:spPr>
          <a:xfrm rot="-13750">
            <a:off x="698513" y="5264150"/>
            <a:ext cx="3175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1" name="AutoShape 11"/>
          <p:cNvSpPr/>
          <p:nvPr/>
        </p:nvSpPr>
        <p:spPr>
          <a:xfrm>
            <a:off x="698500" y="5397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EM 分数：</a:t>
            </a:r>
            <a:r>
              <a:rPr lang="en-US" sz="2200" b="1" i="0" u="none" strike="noStrike">
                <a:solidFill>
                  <a:srgbClr val="D93025"/>
                </a:solidFill>
                <a:latin typeface="Noto Sans SC" panose="020B0200000000000000" charset="-122"/>
                <a:ea typeface="Noto Sans SC" panose="020B0200000000000000" charset="-122"/>
                <a:cs typeface="Noto Sans SC" panose="020B0200000000000000" charset="-122"/>
                <a:sym typeface="Noto Sans SC" panose="020B0200000000000000" charset="-122"/>
              </a:rPr>
              <a:t>0.13</a:t>
            </a: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(基准线，表现极差)</a:t>
            </a:r>
            <a:endParaRPr lang="en-US" sz="1100"/>
          </a:p>
        </p:txBody>
      </p:sp>
      <p:sp>
        <p:nvSpPr>
          <p:cNvPr id="12" name="AutoShape 12"/>
          <p:cNvSpPr/>
          <p:nvPr/>
        </p:nvSpPr>
        <p:spPr>
          <a:xfrm>
            <a:off x="4318000" y="4572000"/>
            <a:ext cx="3556000" cy="1524000"/>
          </a:xfrm>
          <a:prstGeom prst="roundRect">
            <a:avLst>
              <a:gd name="adj" fmla="val 0"/>
            </a:avLst>
          </a:prstGeom>
          <a:solidFill>
            <a:srgbClr val="00582F">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508500" y="4699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门控策略 (Gated Policy)</a:t>
            </a:r>
            <a:endParaRPr lang="en-US" sz="1100"/>
          </a:p>
        </p:txBody>
      </p:sp>
      <p:cxnSp>
        <p:nvCxnSpPr>
          <p:cNvPr id="14" name="Connector 14"/>
          <p:cNvCxnSpPr/>
          <p:nvPr/>
        </p:nvCxnSpPr>
        <p:spPr>
          <a:xfrm rot="-13750">
            <a:off x="4508513" y="5264150"/>
            <a:ext cx="3175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5" name="AutoShape 15"/>
          <p:cNvSpPr/>
          <p:nvPr/>
        </p:nvSpPr>
        <p:spPr>
          <a:xfrm>
            <a:off x="4508500" y="5397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EM 分数：</a:t>
            </a:r>
            <a:r>
              <a:rPr lang="en-US" sz="22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0.20</a:t>
            </a: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(提升微弱，未达预期)</a:t>
            </a:r>
            <a:endParaRPr lang="en-US" sz="1100"/>
          </a:p>
        </p:txBody>
      </p:sp>
      <p:sp>
        <p:nvSpPr>
          <p:cNvPr id="16" name="AutoShape 16"/>
          <p:cNvSpPr/>
          <p:nvPr/>
        </p:nvSpPr>
        <p:spPr>
          <a:xfrm>
            <a:off x="8128000" y="4572000"/>
            <a:ext cx="3556000" cy="1524000"/>
          </a:xfrm>
          <a:prstGeom prst="roundRect">
            <a:avLst>
              <a:gd name="adj" fmla="val 0"/>
            </a:avLst>
          </a:prstGeom>
          <a:solidFill>
            <a:srgbClr val="00582F">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318500" y="4699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始终启用视觉 (Always On)</a:t>
            </a:r>
            <a:endParaRPr lang="en-US" sz="1100"/>
          </a:p>
        </p:txBody>
      </p:sp>
      <p:cxnSp>
        <p:nvCxnSpPr>
          <p:cNvPr id="18" name="Connector 18"/>
          <p:cNvCxnSpPr/>
          <p:nvPr/>
        </p:nvCxnSpPr>
        <p:spPr>
          <a:xfrm rot="-13750">
            <a:off x="8318513" y="5264150"/>
            <a:ext cx="3175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9" name="AutoShape 19"/>
          <p:cNvSpPr/>
          <p:nvPr/>
        </p:nvSpPr>
        <p:spPr>
          <a:xfrm>
            <a:off x="8318500" y="5397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EM 分数：</a:t>
            </a:r>
            <a:r>
              <a:rPr lang="en-US" sz="22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0.82</a:t>
            </a:r>
            <a:r>
              <a:rPr lang="en-US" sz="1200" b="0" i="0" u="none" strike="noStrike">
                <a:solidFill>
                  <a:srgbClr val="999999"/>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(性能爆发，潜力验证)</a:t>
            </a:r>
            <a:endParaRPr lang="en-US" sz="1100"/>
          </a:p>
        </p:txBody>
      </p:sp>
      <p:pic>
        <p:nvPicPr>
          <p:cNvPr id="21" name="图片 20"/>
          <p:cNvPicPr>
            <a:picLocks noChangeAspect="1"/>
          </p:cNvPicPr>
          <p:nvPr/>
        </p:nvPicPr>
        <p:blipFill rotWithShape="1">
          <a:blip r:embed="rId1"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消融实验结论（三）：瓶颈在于触发机制</a:t>
            </a:r>
            <a:endParaRPr lang="en-US" sz="1100"/>
          </a:p>
        </p:txBody>
      </p:sp>
      <p:sp>
        <p:nvSpPr>
          <p:cNvPr id="3" name="AutoShape 3"/>
          <p:cNvSpPr/>
          <p:nvPr/>
        </p:nvSpPr>
        <p:spPr>
          <a:xfrm>
            <a:off x="508000" y="1397000"/>
            <a:ext cx="1117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实验揭示模型本身并不缺乏基础视觉识别能力，系统真正的性能瓶颈在于：在 corpus-grounded 约束下，如何将视觉特征与语料库证据稳定关联，即视觉信息的“触发机制”是否有效。</a:t>
            </a:r>
            <a:endParaRPr lang="en-US" sz="1100"/>
          </a:p>
        </p:txBody>
      </p:sp>
      <p:sp>
        <p:nvSpPr>
          <p:cNvPr id="4" name="AutoShape 4"/>
          <p:cNvSpPr/>
          <p:nvPr/>
        </p:nvSpPr>
        <p:spPr>
          <a:xfrm>
            <a:off x="508000" y="2667000"/>
            <a:ext cx="5524500" cy="2476500"/>
          </a:xfrm>
          <a:prstGeom prst="roundRect">
            <a:avLst>
              <a:gd name="adj" fmla="val 0"/>
            </a:avLst>
          </a:prstGeom>
          <a:solidFill>
            <a:srgbClr val="F8F9FA">
              <a:alpha val="100000"/>
            </a:srgbClr>
          </a:solidFill>
          <a:ln cap="flat" cmpd="sng">
            <a:solidFill>
              <a:srgbClr val="C8D4E1">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2667000"/>
            <a:ext cx="76200" cy="2476500"/>
          </a:xfrm>
          <a:prstGeom prst="roundRect">
            <a:avLst>
              <a:gd name="adj" fmla="val 0"/>
            </a:avLst>
          </a:prstGeom>
          <a:solidFill>
            <a:srgbClr val="9696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8575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检索后看图</a:t>
            </a:r>
            <a:endParaRPr lang="en-US" sz="1100" dirty="0"/>
          </a:p>
        </p:txBody>
      </p:sp>
      <p:cxnSp>
        <p:nvCxnSpPr>
          <p:cNvPr id="7" name="Connector 7"/>
          <p:cNvCxnSpPr/>
          <p:nvPr/>
        </p:nvCxnSpPr>
        <p:spPr>
          <a:xfrm rot="-8703">
            <a:off x="762008" y="3549650"/>
            <a:ext cx="50165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8" name="AutoShape 8"/>
          <p:cNvSpPr/>
          <p:nvPr/>
        </p:nvSpPr>
        <p:spPr>
          <a:xfrm>
            <a:off x="762000" y="3619500"/>
            <a:ext cx="5016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模型无法直接观察原始题图，必须依赖检索流程返回的语料库片段进行推理，视觉证据需经过文本化转译才能被利用</a:t>
            </a:r>
            <a:r>
              <a:rPr 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9" name="AutoShape 9"/>
          <p:cNvSpPr/>
          <p:nvPr/>
        </p:nvSpPr>
        <p:spPr>
          <a:xfrm>
            <a:off x="762000" y="44704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最佳EM值仅</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400" b="1" i="0" u="none" strike="noStrike" dirty="0">
                <a:solidFill>
                  <a:srgbClr val="B43232"/>
                </a:solidFill>
                <a:latin typeface="Noto Sans SC" panose="020B0200000000000000" charset="-122"/>
                <a:ea typeface="Noto Sans SC" panose="020B0200000000000000" charset="-122"/>
                <a:cs typeface="Noto Sans SC" panose="020B0200000000000000" charset="-122"/>
                <a:sym typeface="Noto Sans SC" panose="020B0200000000000000" charset="-122"/>
              </a:rPr>
              <a:t>0.20</a:t>
            </a:r>
            <a:r>
              <a:rPr lang="en-US" i="0" u="none" strike="noStrike" dirty="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（即使启用门控策略），</a:t>
            </a:r>
            <a:r>
              <a:rPr lang="en-US" i="0" u="none" strike="noStrike" dirty="0" err="1">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性能受限于检索召回与触发逻辑</a:t>
            </a:r>
            <a:r>
              <a:rPr lang="en-US" i="0" u="none" strike="noStrike" dirty="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0" name="AutoShape 10"/>
          <p:cNvSpPr/>
          <p:nvPr/>
        </p:nvSpPr>
        <p:spPr>
          <a:xfrm>
            <a:off x="6286500" y="2667000"/>
            <a:ext cx="5524500" cy="2476500"/>
          </a:xfrm>
          <a:prstGeom prst="roundRect">
            <a:avLst>
              <a:gd name="adj" fmla="val 0"/>
            </a:avLst>
          </a:prstGeom>
          <a:solidFill>
            <a:srgbClr val="F8F9FA">
              <a:alpha val="100000"/>
            </a:srgbClr>
          </a:solidFill>
          <a:ln cap="flat" cmpd="sng">
            <a:solidFill>
              <a:srgbClr val="C8D4E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86500" y="2667000"/>
            <a:ext cx="76200" cy="2476500"/>
          </a:xfrm>
          <a:prstGeom prst="roundRect">
            <a:avLst>
              <a:gd name="adj" fmla="val 0"/>
            </a:avLst>
          </a:prstGeom>
          <a:solidFill>
            <a:srgbClr val="0058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540500" y="28575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2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直接看题图</a:t>
            </a:r>
            <a:endParaRPr lang="en-US" sz="1100" dirty="0"/>
          </a:p>
        </p:txBody>
      </p:sp>
      <p:cxnSp>
        <p:nvCxnSpPr>
          <p:cNvPr id="13" name="Connector 13"/>
          <p:cNvCxnSpPr/>
          <p:nvPr/>
        </p:nvCxnSpPr>
        <p:spPr>
          <a:xfrm rot="-8703">
            <a:off x="6540508" y="3549650"/>
            <a:ext cx="50165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4" name="AutoShape 14"/>
          <p:cNvSpPr/>
          <p:nvPr/>
        </p:nvSpPr>
        <p:spPr>
          <a:xfrm>
            <a:off x="6540500" y="3568700"/>
            <a:ext cx="5016500" cy="711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允许模型直接访问并分析</a:t>
            </a:r>
            <a:r>
              <a:rPr 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query page </a:t>
            </a:r>
            <a:r>
              <a:rPr lang="en-US" sz="16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image，以此评估模型在无中间损耗下的视觉理解上限</a:t>
            </a:r>
            <a:r>
              <a:rPr lang="zh-CN" altLang="en-US" sz="16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5" name="AutoShape 15"/>
          <p:cNvSpPr/>
          <p:nvPr/>
        </p:nvSpPr>
        <p:spPr>
          <a:xfrm>
            <a:off x="6540499" y="44704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最佳EM值飙升至</a:t>
            </a: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4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0.93</a:t>
            </a:r>
            <a:r>
              <a:rPr lang="en-US" sz="1400" b="0" i="0" u="none" strike="noStrike" dirty="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，充分证明模型具备极强的底层视觉识别与解析能力。</a:t>
            </a:r>
            <a:endParaRPr lang="en-US" sz="1100" dirty="0"/>
          </a:p>
        </p:txBody>
      </p:sp>
      <p:sp>
        <p:nvSpPr>
          <p:cNvPr id="16" name="AutoShape 16"/>
          <p:cNvSpPr/>
          <p:nvPr/>
        </p:nvSpPr>
        <p:spPr>
          <a:xfrm>
            <a:off x="508000" y="5461000"/>
            <a:ext cx="11303000" cy="952500"/>
          </a:xfrm>
          <a:prstGeom prst="roundRect">
            <a:avLst>
              <a:gd name="adj" fmla="val 0"/>
            </a:avLst>
          </a:prstGeom>
          <a:solidFill>
            <a:srgbClr val="00582F">
              <a:alpha val="6000"/>
            </a:srgbClr>
          </a:solidFill>
          <a:ln cap="flat" cmpd="sng">
            <a:solidFill>
              <a:srgbClr val="003F21">
                <a:alpha val="6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5651500"/>
            <a:ext cx="406400" cy="406400"/>
          </a:xfrm>
          <a:prstGeom prst="rect">
            <a:avLst/>
          </a:prstGeom>
        </p:spPr>
      </p:pic>
      <p:sp>
        <p:nvSpPr>
          <p:cNvPr id="18" name="AutoShape 18"/>
          <p:cNvSpPr/>
          <p:nvPr/>
        </p:nvSpPr>
        <p:spPr>
          <a:xfrm>
            <a:off x="1270000" y="55626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a:t>
            </a: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问题的关键并非模型“看不懂图”，而是缺乏可靠的机制让模型在需要视觉证据时主动触发视觉分析，并将其与文本证据有机组织。优化“触发机制”是提升系统性能的核心突破口。</a:t>
            </a:r>
            <a:endParaRPr lang="en-US" sz="1100"/>
          </a:p>
        </p:txBody>
      </p:sp>
      <p:pic>
        <p:nvPicPr>
          <p:cNvPr id="20" name="图片 19"/>
          <p:cNvPicPr>
            <a:picLocks noChangeAspect="1"/>
          </p:cNvPicPr>
          <p:nvPr/>
        </p:nvPicPr>
        <p:blipFill rotWithShape="1">
          <a:blip r:embed="rId3"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6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 </a:t>
            </a:r>
            <a:r>
              <a:rPr lang="en-US" altLang="zh-CN" sz="36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zh-CN" altLang="en-US" sz="36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600" b="1" i="0" u="none" strike="noStrike"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块优先解耦，构建统一证据载体</a:t>
            </a:r>
            <a:endParaRPr lang="en-US" sz="1100" dirty="0"/>
          </a:p>
        </p:txBody>
      </p:sp>
      <p:sp>
        <p:nvSpPr>
          <p:cNvPr id="3" name="AutoShape 3"/>
          <p:cNvSpPr/>
          <p:nvPr/>
        </p:nvSpPr>
        <p:spPr>
          <a:xfrm>
            <a:off x="762000" y="1841500"/>
            <a:ext cx="5080000" cy="4572000"/>
          </a:xfrm>
          <a:prstGeom prst="roundRect">
            <a:avLst>
              <a:gd name="adj" fmla="val 3333"/>
            </a:avLst>
          </a:prstGeom>
          <a:solidFill>
            <a:srgbClr val="F8F9FA">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016000" y="22225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结构化数据存储体系</a:t>
            </a:r>
            <a:endParaRPr lang="en-US" dirty="0"/>
          </a:p>
        </p:txBody>
      </p:sp>
      <p:sp>
        <p:nvSpPr>
          <p:cNvPr id="5" name="AutoShape 5"/>
          <p:cNvSpPr/>
          <p:nvPr/>
        </p:nvSpPr>
        <p:spPr>
          <a:xfrm>
            <a:off x="1016000" y="2984500"/>
            <a:ext cx="4572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摒弃将文档视为整体的传统模式，将其解构为标题、段落、表格、图片等独立的语义块</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dirty="0"/>
          </a:p>
          <a:p>
            <a:pPr marL="0" indent="0" algn="l">
              <a:lnSpc>
                <a:spcPct val="125000"/>
              </a:lnSpc>
            </a:pPr>
            <a:r>
              <a:rPr lang="en-US" sz="20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每个块作为最小且可追溯的证据单元，让生成结果有源可溯，从根本上提升系统的可解释性与可信度</a:t>
            </a:r>
            <a:r>
              <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350000" y="1841500"/>
            <a:ext cx="5080000" cy="4572000"/>
          </a:xfrm>
          <a:prstGeom prst="roundRect">
            <a:avLst>
              <a:gd name="adj" fmla="val 3333"/>
            </a:avLst>
          </a:prstGeom>
          <a:solidFill>
            <a:srgbClr val="F8F9FA">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7" name="AutoShape 7"/>
          <p:cNvSpPr/>
          <p:nvPr/>
        </p:nvSpPr>
        <p:spPr>
          <a:xfrm>
            <a:off x="7366000" y="1905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dirty="0">
                <a:solidFill>
                  <a:srgbClr val="333333"/>
                </a:solidFill>
                <a:latin typeface="Noto Sans SC" panose="020B0200000000000000" charset="-122"/>
                <a:ea typeface="Noto Sans SC" panose="020B0200000000000000" charset="-122"/>
                <a:sym typeface="Noto Sans SC" panose="020B0200000000000000" charset="-122"/>
              </a:rPr>
              <a:t>精准保留二维结构信息</a:t>
            </a:r>
            <a:endParaRPr lang="en-US" sz="1100" dirty="0"/>
          </a:p>
        </p:txBody>
      </p:sp>
      <p:sp>
        <p:nvSpPr>
          <p:cNvPr id="8" name="AutoShape 8"/>
          <p:cNvSpPr/>
          <p:nvPr/>
        </p:nvSpPr>
        <p:spPr>
          <a:xfrm>
            <a:off x="6604000" y="3175000"/>
            <a:ext cx="4572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20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图片 8"/>
          <p:cNvPicPr/>
          <p:nvPr/>
        </p:nvPicPr>
        <p:blipFill>
          <a:blip r:embed="rId1"/>
          <a:srcRect l="152" t="-903" r="-152" b="4607"/>
          <a:stretch>
            <a:fillRect/>
          </a:stretch>
        </p:blipFill>
        <p:spPr>
          <a:xfrm>
            <a:off x="7075013" y="2354650"/>
            <a:ext cx="3771373" cy="3986278"/>
          </a:xfrm>
          <a:prstGeom prst="rect">
            <a:avLst/>
          </a:prstGeom>
        </p:spPr>
      </p:pic>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亮点</a:t>
            </a:r>
            <a:r>
              <a:rPr 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3200" b="1" i="0" u="none" strike="noStrike" dirty="0">
                <a:solidFill>
                  <a:srgbClr val="00582F"/>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：文本优先检索</a:t>
            </a:r>
            <a:endParaRPr lang="en-US" sz="1100" dirty="0"/>
          </a:p>
        </p:txBody>
      </p:sp>
      <p:sp>
        <p:nvSpPr>
          <p:cNvPr id="3" name="AutoShape 3"/>
          <p:cNvSpPr/>
          <p:nvPr/>
        </p:nvSpPr>
        <p:spPr>
          <a:xfrm>
            <a:off x="762000" y="1397000"/>
            <a:ext cx="5207000" cy="5080000"/>
          </a:xfrm>
          <a:prstGeom prst="roundRect">
            <a:avLst>
              <a:gd name="adj" fmla="val 3000"/>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460500" y="1625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轻量初筛：快速锁定候选集</a:t>
            </a:r>
            <a:endParaRPr lang="en-US" sz="1100" dirty="0"/>
          </a:p>
        </p:txBody>
      </p:sp>
      <p:sp>
        <p:nvSpPr>
          <p:cNvPr id="6" name="AutoShape 6"/>
          <p:cNvSpPr/>
          <p:nvPr/>
        </p:nvSpPr>
        <p:spPr>
          <a:xfrm>
            <a:off x="1016000" y="2095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采用轻量级文本相似度算法，在海量文档块中快速粗筛，以极低计算成本过滤无关信息</a:t>
            </a:r>
            <a:endParaRPr lang="en-US"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304800" cy="304800"/>
          </a:xfrm>
          <a:prstGeom prst="rect">
            <a:avLst/>
          </a:prstGeom>
        </p:spPr>
      </p:pic>
      <p:sp>
        <p:nvSpPr>
          <p:cNvPr id="8" name="AutoShape 8"/>
          <p:cNvSpPr/>
          <p:nvPr/>
        </p:nvSpPr>
        <p:spPr>
          <a:xfrm>
            <a:off x="1460500" y="3022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精细重排：提纯关键证据</a:t>
            </a:r>
            <a:endParaRPr lang="en-US" sz="1100"/>
          </a:p>
        </p:txBody>
      </p:sp>
      <p:sp>
        <p:nvSpPr>
          <p:cNvPr id="9" name="AutoShape 9"/>
          <p:cNvSpPr/>
          <p:nvPr/>
        </p:nvSpPr>
        <p:spPr>
          <a:xfrm>
            <a:off x="1016000" y="3492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对初筛候选深度语义重排，削弱低信息词和问题回声干扰，确保Top-1证据的准确性与相关性。</a:t>
            </a:r>
            <a:endParaRPr lang="en-US" dirty="0"/>
          </a:p>
        </p:txBody>
      </p:sp>
      <p:pic>
        <p:nvPicPr>
          <p:cNvPr id="10" name="Picture 10"/>
          <p:cNvPicPr>
            <a:picLocks noChangeAspect="1"/>
          </p:cNvPicPr>
          <p:nvPr/>
        </p:nvPicPr>
        <p:blipFill>
          <a:blip r:embed="rId5"/>
          <a:stretch>
            <a:fillRect/>
          </a:stretch>
        </p:blipFill>
        <p:spPr>
          <a:xfrm>
            <a:off x="1016000" y="4381500"/>
            <a:ext cx="4699000" cy="1905000"/>
          </a:xfrm>
          <a:prstGeom prst="rect">
            <a:avLst/>
          </a:prstGeom>
          <a:ln w="12700">
            <a:noFill/>
            <a:prstDash val="solid"/>
          </a:ln>
        </p:spPr>
      </p:pic>
      <p:sp>
        <p:nvSpPr>
          <p:cNvPr id="11" name="AutoShape 11"/>
          <p:cNvSpPr/>
          <p:nvPr/>
        </p:nvSpPr>
        <p:spPr>
          <a:xfrm>
            <a:off x="6223000" y="1397000"/>
            <a:ext cx="5207000" cy="5080000"/>
          </a:xfrm>
          <a:prstGeom prst="roundRect">
            <a:avLst>
              <a:gd name="adj" fmla="val 3000"/>
            </a:avLst>
          </a:prstGeom>
          <a:solidFill>
            <a:srgbClr val="F8F9FA">
              <a:alpha val="100000"/>
            </a:srgbClr>
          </a:solidFill>
          <a:ln w="12700" cap="flat" cmpd="sng">
            <a:solidFill>
              <a:srgbClr val="DEE2E6">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651000"/>
            <a:ext cx="304800" cy="304800"/>
          </a:xfrm>
          <a:prstGeom prst="rect">
            <a:avLst/>
          </a:prstGeom>
        </p:spPr>
      </p:pic>
      <p:sp>
        <p:nvSpPr>
          <p:cNvPr id="13" name="AutoShape 13"/>
          <p:cNvSpPr/>
          <p:nvPr/>
        </p:nvSpPr>
        <p:spPr>
          <a:xfrm>
            <a:off x="6921500" y="16256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关键发现：视觉介入的“双刃剑</a:t>
            </a:r>
            <a:r>
              <a:rPr lang="en-US" sz="1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6477000" y="2286000"/>
            <a:ext cx="4699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zh-CN" altLang="en-US"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 </a:t>
            </a:r>
            <a:r>
              <a:rPr lang="en-US" altLang="zh-CN"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PPT </a:t>
            </a:r>
            <a:r>
              <a:rPr lang="zh-CN" altLang="en-US"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的排版高度</a:t>
            </a:r>
            <a:r>
              <a:rPr lang="zh-CN" altLang="en-US" sz="1800"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模板化，视觉向量非常相似，区分度小。如下图所示：</a:t>
            </a:r>
            <a:endParaRPr lang="en-US" altLang="zh-CN" sz="1800"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defRPr/>
            </a:pPr>
            <a:endParaRPr lang="en-US"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defRPr/>
            </a:pPr>
            <a:endParaRPr lang="en-US" sz="1800"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defRPr/>
            </a:pPr>
            <a:endParaRPr lang="en-US"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defRPr/>
            </a:pPr>
            <a:endParaRPr lang="en-US" sz="1800"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defRPr/>
            </a:pPr>
            <a:endParaRPr lang="en-US"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defRPr/>
            </a:pPr>
            <a:endParaRPr lang="en-US"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defRPr/>
            </a:pPr>
            <a:r>
              <a:rPr lang="en-US" sz="1800" b="0" i="0" u="none" strike="noStrike" dirty="0" err="1">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实验数据证实，在检索阶段过早融合视觉信息会引入噪声，导致关键证据排序混乱</a:t>
            </a:r>
            <a:r>
              <a:rPr lang="en-US" sz="18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dirty="0"/>
          </a:p>
        </p:txBody>
      </p:sp>
      <p:pic>
        <p:nvPicPr>
          <p:cNvPr id="18" name="图片 17"/>
          <p:cNvPicPr>
            <a:picLocks noChangeAspect="1"/>
          </p:cNvPicPr>
          <p:nvPr/>
        </p:nvPicPr>
        <p:blipFill>
          <a:blip r:embed="rId8"/>
          <a:stretch>
            <a:fillRect/>
          </a:stretch>
        </p:blipFill>
        <p:spPr>
          <a:xfrm>
            <a:off x="6387427" y="3199346"/>
            <a:ext cx="2373642" cy="1771913"/>
          </a:xfrm>
          <a:prstGeom prst="rect">
            <a:avLst/>
          </a:prstGeom>
        </p:spPr>
      </p:pic>
      <p:pic>
        <p:nvPicPr>
          <p:cNvPr id="20" name="图片 19"/>
          <p:cNvPicPr>
            <a:picLocks noChangeAspect="1"/>
          </p:cNvPicPr>
          <p:nvPr/>
        </p:nvPicPr>
        <p:blipFill>
          <a:blip r:embed="rId9"/>
          <a:stretch>
            <a:fillRect/>
          </a:stretch>
        </p:blipFill>
        <p:spPr>
          <a:xfrm>
            <a:off x="8909513" y="3200400"/>
            <a:ext cx="2356060" cy="1771913"/>
          </a:xfrm>
          <a:prstGeom prst="rect">
            <a:avLst/>
          </a:prstGeom>
        </p:spPr>
      </p:pic>
      <p:pic>
        <p:nvPicPr>
          <p:cNvPr id="22" name="图片 21"/>
          <p:cNvPicPr>
            <a:picLocks noChangeAspect="1"/>
          </p:cNvPicPr>
          <p:nvPr/>
        </p:nvPicPr>
        <p:blipFill rotWithShape="1">
          <a:blip r:embed="rId10"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a:solidFill>
                  <a:srgbClr val="00582F"/>
                </a:solidFill>
                <a:latin typeface="Noto Sans SC" panose="020B0200000000000000" charset="-122"/>
                <a:ea typeface="Noto Sans SC" panose="020B0200000000000000" charset="-122"/>
                <a:cs typeface="Noto Sans SC" panose="020B0200000000000000" charset="-122"/>
              </a:rPr>
              <a:t>04 结论与展望</a:t>
            </a:r>
            <a:endParaRPr lang="en-US" sz="3600" b="1">
              <a:solidFill>
                <a:srgbClr val="00582F"/>
              </a:solidFill>
              <a:latin typeface="Noto Sans SC" panose="020B0200000000000000" charset="-122"/>
              <a:ea typeface="Noto Sans SC" panose="020B0200000000000000" charset="-122"/>
              <a:cs typeface="Noto Sans SC" panose="020B0200000000000000" charset="-122"/>
            </a:endParaRPr>
          </a:p>
        </p:txBody>
      </p:sp>
      <p:sp>
        <p:nvSpPr>
          <p:cNvPr id="3" name="AutoShape 3"/>
          <p:cNvSpPr/>
          <p:nvPr/>
        </p:nvSpPr>
        <p:spPr>
          <a:xfrm>
            <a:off x="508000" y="1524000"/>
            <a:ext cx="11176000" cy="1584960"/>
          </a:xfrm>
          <a:prstGeom prst="roundRect">
            <a:avLst>
              <a:gd name="adj" fmla="val 0"/>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524000"/>
            <a:ext cx="76200" cy="1584960"/>
          </a:xfrm>
          <a:prstGeom prst="roundRect">
            <a:avLst>
              <a:gd name="adj" fmla="val 0"/>
            </a:avLst>
          </a:prstGeom>
          <a:solidFill>
            <a:srgbClr val="0058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145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工程层面</a:t>
            </a:r>
            <a:endPar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endParaRPr lang="en-US" sz="1100" dirty="0"/>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完成了结构化解析、块级索引、检索重排、生成回答与</a:t>
            </a: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citation</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返回的完整系统实现。</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建立了离线</a:t>
            </a: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benchmark</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、误差分析与结果回溯实验闭环</a:t>
            </a:r>
            <a:r>
              <a:rPr lang="zh-CN" altLang="en-US" sz="16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6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0" name="图片 29"/>
          <p:cNvPicPr>
            <a:picLocks noChangeAspect="1"/>
          </p:cNvPicPr>
          <p:nvPr/>
        </p:nvPicPr>
        <p:blipFill rotWithShape="1">
          <a:blip r:embed="rId1"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
        <p:nvSpPr>
          <p:cNvPr id="29" name="AutoShape 3"/>
          <p:cNvSpPr/>
          <p:nvPr/>
        </p:nvSpPr>
        <p:spPr>
          <a:xfrm>
            <a:off x="508000" y="3350895"/>
            <a:ext cx="11176000" cy="2124075"/>
          </a:xfrm>
          <a:prstGeom prst="roundRect">
            <a:avLst>
              <a:gd name="adj" fmla="val 0"/>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4"/>
          <p:cNvSpPr/>
          <p:nvPr/>
        </p:nvSpPr>
        <p:spPr>
          <a:xfrm>
            <a:off x="508000" y="3350895"/>
            <a:ext cx="76200" cy="2124075"/>
          </a:xfrm>
          <a:prstGeom prst="roundRect">
            <a:avLst>
              <a:gd name="adj" fmla="val 0"/>
            </a:avLst>
          </a:prstGeom>
          <a:solidFill>
            <a:srgbClr val="0058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5"/>
          <p:cNvSpPr/>
          <p:nvPr/>
        </p:nvSpPr>
        <p:spPr>
          <a:xfrm>
            <a:off x="762000" y="3477895"/>
            <a:ext cx="10668000" cy="185864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实验层面</a:t>
            </a:r>
            <a:endPar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endParaRPr lang="en-US" sz="1100" dirty="0"/>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文本优先检索主线在当前课程文档场景下最稳定。</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检索阶段视觉强融合收益不稳定，甚至会损害</a:t>
            </a: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top-1 citation </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排序。</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视觉辅助在生成阶段对标题、页码、短文本等问题更有效。</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a:solidFill>
                  <a:srgbClr val="00582F"/>
                </a:solidFill>
                <a:latin typeface="Noto Sans SC" panose="020B0200000000000000" charset="-122"/>
                <a:ea typeface="Noto Sans SC" panose="020B0200000000000000" charset="-122"/>
                <a:cs typeface="Noto Sans SC" panose="020B0200000000000000" charset="-122"/>
              </a:rPr>
              <a:t>04 结论与展望</a:t>
            </a:r>
            <a:endParaRPr lang="en-US" sz="3600" b="1">
              <a:solidFill>
                <a:srgbClr val="00582F"/>
              </a:solidFill>
              <a:latin typeface="Noto Sans SC" panose="020B0200000000000000" charset="-122"/>
              <a:ea typeface="Noto Sans SC" panose="020B0200000000000000" charset="-122"/>
              <a:cs typeface="Noto Sans SC" panose="020B0200000000000000" charset="-122"/>
            </a:endParaRPr>
          </a:p>
        </p:txBody>
      </p:sp>
      <p:sp>
        <p:nvSpPr>
          <p:cNvPr id="3" name="AutoShape 3"/>
          <p:cNvSpPr/>
          <p:nvPr/>
        </p:nvSpPr>
        <p:spPr>
          <a:xfrm>
            <a:off x="508000" y="1548765"/>
            <a:ext cx="11176000" cy="4499610"/>
          </a:xfrm>
          <a:prstGeom prst="roundRect">
            <a:avLst>
              <a:gd name="adj" fmla="val 0"/>
            </a:avLst>
          </a:prstGeom>
          <a:solidFill>
            <a:srgbClr val="F8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548765"/>
            <a:ext cx="76200" cy="4499610"/>
          </a:xfrm>
          <a:prstGeom prst="roundRect">
            <a:avLst>
              <a:gd name="adj" fmla="val 0"/>
            </a:avLst>
          </a:prstGeom>
          <a:solidFill>
            <a:srgbClr val="00582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49400"/>
            <a:ext cx="10668000" cy="4120515"/>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后续工作方向</a:t>
            </a:r>
            <a:endParaRPr lang="en-US" sz="28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endParaRPr lang="en-US" sz="1100" dirty="0"/>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、扩大评测范围：从当前固定的</a:t>
            </a: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页切片扩展到更大规模、更加丰富的文档数据类型，检验方法在不同文档上的泛化能力。</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、强化检索与重排：引入更学习化的页级或区级重排方案，从找到正确页面进一步细化到找到正确区域。</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、优化视觉辅助策略：当前门控策略仍处于启发式，触发范围较保守。后续可结合不确定性估计或题型分类进行更稳健的视觉调用。</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50000"/>
              </a:lnSpc>
            </a:pPr>
            <a:r>
              <a:rPr lang="en-US" altLang="zh-CN"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、工程方面完善：支持在线上传、增量解析、动态创建索引，逐步走向真实交互式文档问答系统。</a:t>
            </a:r>
            <a:endParaRPr lang="zh-CN" altLang="en-US" sz="18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0" name="图片 29"/>
          <p:cNvPicPr>
            <a:picLocks noChangeAspect="1"/>
          </p:cNvPicPr>
          <p:nvPr/>
        </p:nvPicPr>
        <p:blipFill rotWithShape="1">
          <a:blip r:embed="rId1"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rot="10800000">
            <a:off x="0" y="-7"/>
            <a:ext cx="12192000" cy="242661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0800000">
            <a:off x="0" y="2493941"/>
            <a:ext cx="12192000" cy="7069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953135" y="3909695"/>
            <a:ext cx="10046335" cy="1599565"/>
          </a:xfrm>
          <a:prstGeom prst="rect">
            <a:avLst/>
          </a:prstGeom>
          <a:noFill/>
        </p:spPr>
        <p:txBody>
          <a:bodyPr wrap="square" rtlCol="0">
            <a:spAutoFit/>
          </a:bodyPr>
          <a:lstStyle/>
          <a:p>
            <a:pPr algn="ctr"/>
            <a:r>
              <a:rPr lang="zh-CN" altLang="en-US" sz="6600" b="1" dirty="0">
                <a:solidFill>
                  <a:srgbClr val="014924"/>
                </a:solidFill>
                <a:latin typeface="微软雅黑" panose="020B0503020204020204" pitchFamily="34" charset="-122"/>
                <a:ea typeface="微软雅黑" panose="020B0503020204020204" pitchFamily="34" charset="-122"/>
              </a:rPr>
              <a:t>谢谢</a:t>
            </a:r>
            <a:endParaRPr lang="zh-CN" altLang="en-US" sz="6600" b="1" dirty="0">
              <a:solidFill>
                <a:srgbClr val="014924"/>
              </a:solidFill>
              <a:latin typeface="微软雅黑" panose="020B0503020204020204" pitchFamily="34" charset="-122"/>
              <a:ea typeface="微软雅黑" panose="020B0503020204020204" pitchFamily="34" charset="-122"/>
            </a:endParaRPr>
          </a:p>
          <a:p>
            <a:pPr algn="ctr"/>
            <a:endParaRPr lang="zh-CN" altLang="en-US" sz="1600" b="1" dirty="0">
              <a:solidFill>
                <a:srgbClr val="014924"/>
              </a:solidFill>
              <a:latin typeface="微软雅黑" panose="020B0503020204020204" pitchFamily="34" charset="-122"/>
              <a:ea typeface="微软雅黑" panose="020B0503020204020204" pitchFamily="34" charset="-122"/>
            </a:endParaRPr>
          </a:p>
          <a:p>
            <a:pPr algn="ctr"/>
            <a:r>
              <a:rPr lang="zh-CN" altLang="en-US" sz="1600" b="1" dirty="0">
                <a:solidFill>
                  <a:srgbClr val="014924"/>
                </a:solidFill>
                <a:latin typeface="微软雅黑" panose="020B0503020204020204" pitchFamily="34" charset="-122"/>
                <a:ea typeface="微软雅黑" panose="020B0503020204020204" pitchFamily="34" charset="-122"/>
              </a:rPr>
              <a:t>附</a:t>
            </a:r>
            <a:r>
              <a:rPr lang="en-US" altLang="zh-CN" sz="1600" b="1" dirty="0">
                <a:solidFill>
                  <a:srgbClr val="014924"/>
                </a:solidFill>
                <a:latin typeface="微软雅黑" panose="020B0503020204020204" pitchFamily="34" charset="-122"/>
                <a:ea typeface="微软雅黑" panose="020B0503020204020204" pitchFamily="34" charset="-122"/>
              </a:rPr>
              <a:t> </a:t>
            </a:r>
            <a:r>
              <a:rPr lang="zh-CN" altLang="en-US" sz="1600" b="1" dirty="0">
                <a:solidFill>
                  <a:srgbClr val="014924"/>
                </a:solidFill>
                <a:latin typeface="微软雅黑" panose="020B0503020204020204" pitchFamily="34" charset="-122"/>
                <a:ea typeface="微软雅黑" panose="020B0503020204020204" pitchFamily="34" charset="-122"/>
              </a:rPr>
              <a:t>项目仓库地址</a:t>
            </a:r>
            <a:r>
              <a:rPr lang="en-US" altLang="zh-CN" sz="1600" b="1" dirty="0">
                <a:solidFill>
                  <a:srgbClr val="014924"/>
                </a:solidFill>
                <a:latin typeface="微软雅黑" panose="020B0503020204020204" pitchFamily="34" charset="-122"/>
                <a:ea typeface="微软雅黑" panose="020B0503020204020204" pitchFamily="34" charset="-122"/>
              </a:rPr>
              <a:t>https://github.com/boyokkkkk/MLLM-FinalProject</a:t>
            </a:r>
            <a:endParaRPr lang="en-US" altLang="zh-CN" sz="1600" b="1" dirty="0">
              <a:solidFill>
                <a:srgbClr val="014924"/>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323851" y="-24013"/>
            <a:ext cx="11544299" cy="3154706"/>
          </a:xfrm>
          <a:prstGeom prst="rect">
            <a:avLst/>
          </a:prstGeom>
        </p:spPr>
        <p:txBody>
          <a:bodyPr wrap="square" lIns="91436" tIns="45718" rIns="91436" bIns="45718">
            <a:spAutoFit/>
          </a:bodyPr>
          <a:lstStyle>
            <a:defPPr>
              <a:defRPr lang="zh-CN"/>
            </a:defPPr>
            <a:lvl1pPr algn="ctr">
              <a:defRPr sz="105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dist"/>
            <a:r>
              <a:rPr lang="en-US" altLang="zh-CN" sz="19900" b="1" dirty="0">
                <a:solidFill>
                  <a:schemeClr val="bg1">
                    <a:alpha val="10000"/>
                  </a:schemeClr>
                </a:solidFill>
              </a:rPr>
              <a:t>THANKS</a:t>
            </a:r>
            <a:endParaRPr lang="zh-CN" altLang="en-US" sz="19900" b="1" dirty="0">
              <a:solidFill>
                <a:schemeClr val="bg1">
                  <a:alpha val="10000"/>
                </a:schemeClr>
              </a:solidFill>
            </a:endParaRPr>
          </a:p>
        </p:txBody>
      </p:sp>
      <p:grpSp>
        <p:nvGrpSpPr>
          <p:cNvPr id="7" name="组合 6"/>
          <p:cNvGrpSpPr/>
          <p:nvPr/>
        </p:nvGrpSpPr>
        <p:grpSpPr>
          <a:xfrm>
            <a:off x="4876405" y="1196335"/>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1" name="图片 20"/>
          <p:cNvPicPr>
            <a:picLocks noChangeAspect="1"/>
          </p:cNvPicPr>
          <p:nvPr/>
        </p:nvPicPr>
        <p:blipFill>
          <a:blip r:embed="rId1" cstate="print">
            <a:extLst>
              <a:ext uri="{BEBA8EAE-BF5A-486C-A8C5-ECC9F3942E4B}">
                <a14:imgProps xmlns:a14="http://schemas.microsoft.com/office/drawing/2010/main">
                  <a14:imgLayer r:embed="rId2">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27804" y="1438170"/>
            <a:ext cx="1936392" cy="1930811"/>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450,&quot;left&quot;:60,&quot;top&quot;:160,&quot;width&quot;:840}"/>
</p:tagLst>
</file>

<file path=ppt/tags/tag2.xml><?xml version="1.0" encoding="utf-8"?>
<p:tagLst xmlns:p="http://schemas.openxmlformats.org/presentationml/2006/main">
  <p:tag name="KSO_WM_DIAGRAM_VIRTUALLY_FRAME" val="{&quot;height&quot;:450,&quot;left&quot;:60,&quot;top&quot;:160,&quot;width&quot;:840}"/>
</p:tagLst>
</file>

<file path=ppt/tags/tag3.xml><?xml version="1.0" encoding="utf-8"?>
<p:tagLst xmlns:p="http://schemas.openxmlformats.org/presentationml/2006/main">
  <p:tag name="KSO_WM_DIAGRAM_VIRTUALLY_FRAME" val="{&quot;height&quot;:450,&quot;left&quot;:60,&quot;top&quot;:160,&quot;width&quot;:840}"/>
</p:tagLst>
</file>

<file path=ppt/tags/tag4.xml><?xml version="1.0" encoding="utf-8"?>
<p:tagLst xmlns:p="http://schemas.openxmlformats.org/presentationml/2006/main">
  <p:tag name="KSO_WM_DIAGRAM_VIRTUALLY_FRAME" val="{&quot;height&quot;:450,&quot;left&quot;:60,&quot;top&quot;:160,&quot;width&quot;:840}"/>
</p:tagLst>
</file>

<file path=ppt/tags/tag5.xml><?xml version="1.0" encoding="utf-8"?>
<p:tagLst xmlns:p="http://schemas.openxmlformats.org/presentationml/2006/main">
  <p:tag name="KSO_WM_DIAGRAM_VIRTUALLY_FRAME" val="{&quot;height&quot;:450,&quot;left&quot;:60,&quot;top&quot;:160,&quot;width&quot;:840}"/>
</p:tagLst>
</file>

<file path=ppt/tags/tag6.xml><?xml version="1.0" encoding="utf-8"?>
<p:tagLst xmlns:p="http://schemas.openxmlformats.org/presentationml/2006/main">
  <p:tag name="KSO_WM_DIAGRAM_VIRTUALLY_FRAME" val="{&quot;height&quot;:450,&quot;left&quot;:60,&quot;top&quot;:160,&quot;width&quot;:840}"/>
</p:tagLst>
</file>

<file path=ppt/tags/tag7.xml><?xml version="1.0" encoding="utf-8"?>
<p:tagLst xmlns:p="http://schemas.openxmlformats.org/presentationml/2006/main">
  <p:tag name="KSO_WM_DIAGRAM_VIRTUALLY_FRAME" val="{&quot;height&quot;:450,&quot;left&quot;:60,&quot;top&quot;:160,&quot;width&quot;:840}"/>
</p:tagLst>
</file>

<file path=ppt/tags/tag8.xml><?xml version="1.0" encoding="utf-8"?>
<p:tagLst xmlns:p="http://schemas.openxmlformats.org/presentationml/2006/main">
  <p:tag name="KSO_WM_DIAGRAM_VIRTUALLY_FRAME" val="{&quot;height&quot;:450,&quot;left&quot;:60,&quot;top&quot;:160,&quot;width&quot;:840}"/>
</p:tagLst>
</file>

<file path=ppt/tags/tag9.xml><?xml version="1.0" encoding="utf-8"?>
<p:tagLst xmlns:p="http://schemas.openxmlformats.org/presentationml/2006/main">
  <p:tag name="KSO_WM_DIAGRAM_VIRTUALLY_FRAME" val="{&quot;height&quot;:450,&quot;left&quot;:60,&quot;top&quot;:160,&quot;width&quot;:840}"/>
</p:tagLst>
</file>

<file path=ppt/tags/tag10.xml><?xml version="1.0" encoding="utf-8"?>
<p:tagLst xmlns:p="http://schemas.openxmlformats.org/presentationml/2006/main">
  <p:tag name="KSO_WM_DIAGRAM_VIRTUALLY_FRAME" val="{&quot;height&quot;:450,&quot;left&quot;:60,&quot;top&quot;:160,&quot;width&quot;:840}"/>
</p:tagLst>
</file>

<file path=ppt/tags/tag11.xml><?xml version="1.0" encoding="utf-8"?>
<p:tagLst xmlns:p="http://schemas.openxmlformats.org/presentationml/2006/main">
  <p:tag name="KSO_WM_DIAGRAM_VIRTUALLY_FRAME" val="{&quot;height&quot;:450,&quot;left&quot;:60,&quot;top&quot;:160,&quot;width&quot;:840}"/>
</p:tagLst>
</file>

<file path=ppt/tags/tag12.xml><?xml version="1.0" encoding="utf-8"?>
<p:tagLst xmlns:p="http://schemas.openxmlformats.org/presentationml/2006/main">
  <p:tag name="KSO_WM_DIAGRAM_VIRTUALLY_FRAME" val="{&quot;height&quot;:360,&quot;left&quot;:60,&quot;top&quot;:160,&quot;width&quot;:840}"/>
</p:tagLst>
</file>

<file path=ppt/tags/tag13.xml><?xml version="1.0" encoding="utf-8"?>
<p:tagLst xmlns:p="http://schemas.openxmlformats.org/presentationml/2006/main">
  <p:tag name="KSO_WM_DIAGRAM_VIRTUALLY_FRAME" val="{&quot;height&quot;:360,&quot;left&quot;:60,&quot;top&quot;:160,&quot;width&quot;:840}"/>
</p:tagLst>
</file>

<file path=ppt/tags/tag14.xml><?xml version="1.0" encoding="utf-8"?>
<p:tagLst xmlns:p="http://schemas.openxmlformats.org/presentationml/2006/main">
  <p:tag name="KSO_WM_DIAGRAM_VIRTUALLY_FRAME" val="{&quot;height&quot;:360,&quot;left&quot;:60,&quot;top&quot;:160,&quot;width&quot;:840}"/>
</p:tagLst>
</file>

<file path=ppt/tags/tag15.xml><?xml version="1.0" encoding="utf-8"?>
<p:tagLst xmlns:p="http://schemas.openxmlformats.org/presentationml/2006/main">
  <p:tag name="KSO_WM_DIAGRAM_VIRTUALLY_FRAME" val="{&quot;height&quot;:360,&quot;left&quot;:60,&quot;top&quot;:160,&quot;width&quot;:840}"/>
</p:tagLst>
</file>

<file path=ppt/tags/tag16.xml><?xml version="1.0" encoding="utf-8"?>
<p:tagLst xmlns:p="http://schemas.openxmlformats.org/presentationml/2006/main">
  <p:tag name="KSO_WM_DIAGRAM_VIRTUALLY_FRAME" val="{&quot;height&quot;:360,&quot;left&quot;:60,&quot;top&quot;:160,&quot;width&quot;:840}"/>
</p:tagLst>
</file>

<file path=ppt/tags/tag17.xml><?xml version="1.0" encoding="utf-8"?>
<p:tagLst xmlns:p="http://schemas.openxmlformats.org/presentationml/2006/main">
  <p:tag name="KSO_WM_DIAGRAM_VIRTUALLY_FRAME" val="{&quot;height&quot;:360,&quot;left&quot;:60,&quot;top&quot;:160,&quot;width&quot;:840}"/>
</p:tagLst>
</file>

<file path=ppt/tags/tag18.xml><?xml version="1.0" encoding="utf-8"?>
<p:tagLst xmlns:p="http://schemas.openxmlformats.org/presentationml/2006/main">
  <p:tag name="KSO_WM_DIAGRAM_VIRTUALLY_FRAME" val="{&quot;height&quot;:360,&quot;left&quot;:60,&quot;top&quot;:160,&quot;width&quot;:840}"/>
</p:tagLst>
</file>

<file path=ppt/tags/tag19.xml><?xml version="1.0" encoding="utf-8"?>
<p:tagLst xmlns:p="http://schemas.openxmlformats.org/presentationml/2006/main">
  <p:tag name="KSO_WM_DIAGRAM_VIRTUALLY_FRAME" val="{&quot;height&quot;:360,&quot;left&quot;:60,&quot;top&quot;:160,&quot;width&quot;:840}"/>
</p:tagLst>
</file>

<file path=ppt/tags/tag20.xml><?xml version="1.0" encoding="utf-8"?>
<p:tagLst xmlns:p="http://schemas.openxmlformats.org/presentationml/2006/main">
  <p:tag name="KSO_WM_DIAGRAM_VIRTUALLY_FRAME" val="{&quot;height&quot;:360,&quot;left&quot;:60,&quot;top&quot;:160,&quot;width&quot;:840}"/>
</p:tagLst>
</file>

<file path=ppt/tags/tag21.xml><?xml version="1.0" encoding="utf-8"?>
<p:tagLst xmlns:p="http://schemas.openxmlformats.org/presentationml/2006/main">
  <p:tag name="KSO_WM_DIAGRAM_VIRTUALLY_FRAME" val="{&quot;height&quot;:360,&quot;left&quot;:60,&quot;top&quot;:160,&quot;width&quot;:840}"/>
</p:tagLst>
</file>

<file path=ppt/tags/tag22.xml><?xml version="1.0" encoding="utf-8"?>
<p:tagLst xmlns:p="http://schemas.openxmlformats.org/presentationml/2006/main">
  <p:tag name="KSO_WM_DIAGRAM_VIRTUALLY_FRAME" val="{&quot;height&quot;:360,&quot;left&quot;:60,&quot;top&quot;:160,&quot;width&quot;:840}"/>
</p:tagLst>
</file>

<file path=ppt/tags/tag23.xml><?xml version="1.0" encoding="utf-8"?>
<p:tagLst xmlns:p="http://schemas.openxmlformats.org/presentationml/2006/main">
  <p:tag name="KSO_WM_DIAGRAM_VIRTUALLY_FRAME" val="{&quot;height&quot;:360,&quot;left&quot;:60,&quot;top&quot;:160,&quot;width&quot;:840}"/>
</p:tagLst>
</file>

<file path=ppt/tags/tag24.xml><?xml version="1.0" encoding="utf-8"?>
<p:tagLst xmlns:p="http://schemas.openxmlformats.org/presentationml/2006/main">
  <p:tag name="KSO_WM_DIAGRAM_VIRTUALLY_FRAME" val="{&quot;height&quot;:360,&quot;left&quot;:60,&quot;top&quot;:160,&quot;width&quot;:840}"/>
</p:tagLst>
</file>

<file path=ppt/tags/tag25.xml><?xml version="1.0" encoding="utf-8"?>
<p:tagLst xmlns:p="http://schemas.openxmlformats.org/presentationml/2006/main">
  <p:tag name="KSO_WM_DIAGRAM_VIRTUALLY_FRAME" val="{&quot;height&quot;:360,&quot;left&quot;:60,&quot;top&quot;:160,&quot;width&quot;:840}"/>
</p:tagLst>
</file>

<file path=ppt/tags/tag26.xml><?xml version="1.0" encoding="utf-8"?>
<p:tagLst xmlns:p="http://schemas.openxmlformats.org/presentationml/2006/main">
  <p:tag name="KSO_WM_DIAGRAM_VIRTUALLY_FRAME" val="{&quot;height&quot;:360,&quot;left&quot;:60,&quot;top&quot;:160,&quot;width&quot;:840}"/>
</p:tagLst>
</file>

<file path=ppt/tags/tag27.xml><?xml version="1.0" encoding="utf-8"?>
<p:tagLst xmlns:p="http://schemas.openxmlformats.org/presentationml/2006/main">
  <p:tag name="KSO_WM_DIAGRAM_VIRTUALLY_FRAME" val="{&quot;height&quot;:360,&quot;left&quot;:60,&quot;top&quot;:160,&quot;width&quot;:840}"/>
</p:tagLst>
</file>

<file path=ppt/tags/tag28.xml><?xml version="1.0" encoding="utf-8"?>
<p:tagLst xmlns:p="http://schemas.openxmlformats.org/presentationml/2006/main">
  <p:tag name="KSO_WM_DIAGRAM_VIRTUALLY_FRAME" val="{&quot;height&quot;:360,&quot;left&quot;:60,&quot;top&quot;:160,&quot;width&quot;:840}"/>
</p:tagLst>
</file>

<file path=ppt/tags/tag29.xml><?xml version="1.0" encoding="utf-8"?>
<p:tagLst xmlns:p="http://schemas.openxmlformats.org/presentationml/2006/main">
  <p:tag name="KSO_WM_DIAGRAM_VIRTUALLY_FRAME" val="{&quot;height&quot;:360,&quot;left&quot;:60,&quot;top&quot;:160,&quot;width&quot;:840}"/>
</p:tagLst>
</file>

<file path=ppt/tags/tag30.xml><?xml version="1.0" encoding="utf-8"?>
<p:tagLst xmlns:p="http://schemas.openxmlformats.org/presentationml/2006/main">
  <p:tag name="KSO_WM_DIAGRAM_VIRTUALLY_FRAME" val="{&quot;height&quot;:360,&quot;left&quot;:60,&quot;top&quot;:160,&quot;width&quot;:840}"/>
</p:tagLst>
</file>

<file path=ppt/tags/tag31.xml><?xml version="1.0" encoding="utf-8"?>
<p:tagLst xmlns:p="http://schemas.openxmlformats.org/presentationml/2006/main">
  <p:tag name="KSO_WM_DIAGRAM_VIRTUALLY_FRAME" val="{&quot;height&quot;:360,&quot;left&quot;:60,&quot;top&quot;:16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2582</Words>
  <Application>WPS 演示</Application>
  <PresentationFormat>宽屏</PresentationFormat>
  <Paragraphs>215</Paragraphs>
  <Slides>14</Slides>
  <Notes>11</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14</vt:i4>
      </vt:variant>
    </vt:vector>
  </HeadingPairs>
  <TitlesOfParts>
    <vt:vector size="26" baseType="lpstr">
      <vt:lpstr>Arial</vt:lpstr>
      <vt:lpstr>宋体</vt:lpstr>
      <vt:lpstr>Wingdings</vt:lpstr>
      <vt:lpstr>Arial</vt:lpstr>
      <vt:lpstr>Noto Sans SC</vt:lpstr>
      <vt:lpstr>微软雅黑</vt:lpstr>
      <vt:lpstr>Arial Unicode MS</vt:lpstr>
      <vt:lpstr>Office 主题​​</vt:lpstr>
      <vt:lpstr>默认主题</vt:lpstr>
      <vt:lpstr>1_默认主题</vt:lpstr>
      <vt:lpstr>2_默认主题</vt:lpstr>
      <vt:lpstr>3_默认主题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陈宝怡</cp:lastModifiedBy>
  <cp:revision>14</cp:revision>
  <dcterms:created xsi:type="dcterms:W3CDTF">2026-06-17T04:42:00Z</dcterms:created>
  <dcterms:modified xsi:type="dcterms:W3CDTF">2026-06-17T08:50:22Z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{"Label":"1","ContentProducer":"001191110102MACQD9K64010000","ProduceID":"7652004103916162241","ReservedCode1":"","ContentPropagator":"","PropagateID":"","ReservedCode2":""}</vt:lpwstr>
  </property>
  <property fmtid="{D5CDD505-2E9C-101B-9397-08002B2CF9AE}" pid="3" name="KSOProductBuildVer">
    <vt:lpwstr>2052-12.1.0.26895</vt:lpwstr>
  </property>
  <property fmtid="{D5CDD505-2E9C-101B-9397-08002B2CF9AE}" pid="4" name="ICV">
    <vt:lpwstr>C9BE9EAA855F4A7E9F03037FE784AB1B_12</vt:lpwstr>
  </property>
</Properties>
</file>